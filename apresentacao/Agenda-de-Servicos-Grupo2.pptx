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0:00–0:45 | APRESENTADOR(A) 1</a:t>
            </a:r>
          </a:p>
          <a:p>
            <a:r>
              <a:t>• Bom dia/boa tarde. Somos o Grupo 2 e nosso tema é Agenda de Serviços para barbearia/oficina.</a:t>
            </a:r>
          </a:p>
          <a:p>
            <a:r>
              <a:t>• Em uma frase: criamos um app para cadastrar clientes e serviços, agendar sem conflito de horário e lembrar do atendimento.</a:t>
            </a:r>
          </a:p>
          <a:p>
            <a:r>
              <a:t>• Avise a estrutura: problema, solução, tecnologias, 4 etapas, 3 desafios, o que funcionou, divergências em relação ao PWA, próximos passos e lições.</a:t>
            </a:r>
          </a:p>
          <a:p>
            <a:r>
              <a:t>ANTES DE APRESENTAR: substituir os nomes/turma/professor marcados entre colchetes neste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0:45–1:45 | APRESENTADOR(A) 1</a:t>
            </a:r>
          </a:p>
          <a:p>
            <a:r>
              <a:t>• Situe a atividade: a especificação pede um PWA hospedado; o Grupo 2 ficou com Agenda de Serviços.</a:t>
            </a:r>
          </a:p>
          <a:p>
            <a:r>
              <a:t>• Sejam transparentes logo no início: o que foi construído é um app Android nativo funcional. Não vamos chamar de PWA o que não é.</a:t>
            </a:r>
          </a:p>
          <a:p>
            <a:r>
              <a:t>• Promessa da apresentação: demonstrar a solução e, no fim, mostrar com clareza onde ela diverge da especificação e o plano para adequar.</a:t>
            </a:r>
          </a:p>
          <a:p>
            <a:r>
              <a:t>TRANSIÇÃO: 'Primeiro, qual problema o app resolve?'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1:45–2:45 | APRESENTADOR(A) 1</a:t>
            </a:r>
          </a:p>
          <a:p>
            <a:r>
              <a:t>• Descreva a rotina real: agenda no papel/WhatsApp, telefone do cliente perdido, dois clientes no mesmo horário, falta sem aviso.</a:t>
            </a:r>
          </a:p>
          <a:p>
            <a:r>
              <a:t>• Reforce o público: pequeno negócio, muitas vezes sem sistema pago e com internet instável — por isso 'funcionar offline' importa.</a:t>
            </a:r>
          </a:p>
          <a:p>
            <a:r>
              <a:t>TRANSIÇÃO: 'Foi para atacar essas três dores que desenhamos o app.'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2:45–4:00 | APRESENTADOR(A) 2</a:t>
            </a:r>
          </a:p>
          <a:p>
            <a:r>
              <a:t>• Passe pelas 6 capacidades ligando cada uma a uma dor do slide anterior.</a:t>
            </a:r>
          </a:p>
          <a:p>
            <a:r>
              <a:t>• Destaque o diferencial: o sistema calcula início/fim pela duração do serviço e impede sobreposição antes de salvar.</a:t>
            </a:r>
          </a:p>
          <a:p>
            <a:r>
              <a:t>• Mostre o fluxo de status: todo atendimento nasce Pendente e evolui até Concluído ou Cancelado.</a:t>
            </a:r>
          </a:p>
          <a:p>
            <a:r>
              <a:t>TRANSIÇÃO: 'Vamos ver isso nas telas.'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4:00–5:15 | APRESENTADOR(A) 2</a:t>
            </a:r>
          </a:p>
          <a:p>
            <a:r>
              <a:t>ROTEIRO DE DEMONSTRAÇÃO AO VIVO (ensaiar com dados já cadastrados):</a:t>
            </a:r>
          </a:p>
          <a:p>
            <a:r>
              <a:t>1) Abrir a Agenda do dia; 2) cadastrar um cliente; 3) cadastrar/confirmar um serviço;</a:t>
            </a:r>
          </a:p>
          <a:p>
            <a:r>
              <a:t>4) criar agendamento válido; 5) tentar criar outro sobreposto e mostrar o bloqueio; 6) mudar um status.</a:t>
            </a:r>
          </a:p>
          <a:p>
            <a:r>
              <a:t>Os celulares deste slide são ilustrações fiéis às telas — se tiverem prints reais, substituam as imagens no 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5:15–6:30 | APRESENTADOR(A) 3</a:t>
            </a:r>
          </a:p>
          <a:p>
            <a:r>
              <a:t>• Apresente a stack por camadas (tela, arquitetura, dados, sistema) e o motivo de cada escolha.</a:t>
            </a:r>
          </a:p>
          <a:p>
            <a:r>
              <a:t>• Compose: interface declarativa, menos código de tela. Room: SQLite com consultas tipadas. Flow/StateFlow: a tela se atualiza sozinha quando o banco muda.</a:t>
            </a:r>
          </a:p>
          <a:p>
            <a:r>
              <a:t>• Feche sendo direto: é uma stack Android nativa — é justamente aqui que nasce a divergência com o PWA, que detalharemos no slide 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6:30–7:45 | APRESENTADOR(A) 3</a:t>
            </a:r>
          </a:p>
          <a:p>
            <a:r>
              <a:t>• Siga as setas: a tela nunca fala direto com o banco — ViewModel pede ao Repository, que usa o DAO do Room.</a:t>
            </a:r>
          </a:p>
          <a:p>
            <a:r>
              <a:t>• Explique as 3 tabelas e que o agendamento guarda início e FIM (início + duração do serviço).</a:t>
            </a:r>
          </a:p>
          <a:p>
            <a:r>
              <a:t>• Mostre a regra de conflito no quadro escuro: dois intervalos se sobrepõem quando o novo início é antes do fim do existente E o novo fim é depois do início do existente. Cancelados e o próprio registro em edição ficam fora.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7:45–9:00 | APRESENTADOR(A) 3 (uma etapa por integrante, se preferirem)</a:t>
            </a:r>
          </a:p>
          <a:p>
            <a:r>
              <a:t>• Conte a evolução em 4 frentes: primeiro telas/navegação, depois cadastros com banco, depois agendamento com conflito, por fim lembretes/atalhos/documentação.</a:t>
            </a:r>
          </a:p>
          <a:p>
            <a:r>
              <a:t>• HONESTIDADE SOBRE O GIT: o README descreve essas 4 etapas como commits planejados, mas o histórico público atual no GitHub está consolidado em um único envio ('config_system'). Falem 'quatro etapas/frentes de desenvolvimento', não 'quatro commits publicados'.</a:t>
            </a:r>
          </a:p>
          <a:p>
            <a:r>
              <a:t>• Essa consolidação é um dos aprendizados que retomamos no slide 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9:00–10:45 | APRESENTADOR(A) 4 (aprox. 35s por desafio)</a:t>
            </a:r>
          </a:p>
          <a:p>
            <a:r>
              <a:t>1) CONFLITO: o erro clássico seria comparar só o horário de início. A duração muda por serviço, então comparamos intervalos [início, fim) no SQL.</a:t>
            </a:r>
          </a:p>
          <a:p>
            <a:r>
              <a:t>2) LEMBRETE: notificação agendada esbarra nas regras novas do Android — permissão em tempo de execução (13+), alarmes exatos (12+) e alarmes perdidos ao reiniciar. Temos fallback e um receiver de boot.</a:t>
            </a:r>
          </a:p>
          <a:p>
            <a:r>
              <a:t>3) PORTABILIDADE: ao revisar o repositório, descobrimos que ele só compilava na máquina de origem (local.properties com caminho C:\Users\CLIENTE versionado, .gitignore genérico, SDK/JDK muito recentes). Diagnóstico feito; correção planejada no slide 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10:45–11:45 | APRESENTADOR(A) 4</a:t>
            </a:r>
          </a:p>
          <a:p>
            <a:r>
              <a:t>• Liste o que está comprovado no código/demonstração, sem exageros: CRUD offline, agenda reativa, bloqueio de conflito, busca/filtros, lembrete e atalhos.</a:t>
            </a:r>
          </a:p>
          <a:p>
            <a:r>
              <a:t>• Use os números da direita para dar escala: 4 telas, 3 entidades, 4 status, lembrete de 15 min, Android 7+ (API 24).</a:t>
            </a:r>
          </a:p>
          <a:p>
            <a:r>
              <a:t>• Reforce: funcionalidades do tema estão cobertas — o gap é de formato/plataforma,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11:45–12:45 | APRESENTADOR(A) 1</a:t>
            </a:r>
          </a:p>
          <a:p>
            <a:r>
              <a:t>• Este é o slide mais importante da defesa: comparem requisito a requisito, sem tentar 'vender' equivalência como cumprimento.</a:t>
            </a:r>
          </a:p>
          <a:p>
            <a:r>
              <a:t>• ATENDE: tema/funções do Grupo 2 e código no GitHub. NÃO ATENDE: manifest.json, Service Worker, hospedagem/link público, armazenamento web e Lighthouse (sem URL, não há como medir).</a:t>
            </a:r>
          </a:p>
          <a:p>
            <a:r>
              <a:t>• Frase de fechamento sugerida: 'equivalência funcional não substitui os artefatos que a especificação cobra — por isso nosso próximo passo é portar para web.'</a:t>
            </a:r>
          </a:p>
          <a:p>
            <a:r>
              <a:t>• Se o professor tiver autorizado o Android nativo previamente, adaptem este slide e mencionem a autorização aqui.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12:45–13:45 | APRESENTADOR(A) 2</a:t>
            </a:r>
          </a:p>
          <a:p>
            <a:r>
              <a:t>• Apresente como plano, não como feito. Coluna A corrige o repo atual (rápido). Coluna B é o trabalho de portar para PWA reaproveitando telas, regras e modelo de dados — o código Kotlin não roda no navegador.</a:t>
            </a:r>
          </a:p>
          <a:p>
            <a:r>
              <a:t>• No PWA: IndexedDB guarda clientes/serviços/agendamentos; a regra de conflito é a mesma lógica de intervalos; SW faz cache offline; deploy gratuito gera o link público; Lighthouse mede Performance/Acessibilidade/Boas práticas/SEO.</a:t>
            </a:r>
          </a:p>
          <a:p>
            <a:r>
              <a:t>• A ordem importa: primeiro PWA instalável mínimo, depois refinamento e metas do Lighthouse.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13:45–14:30 | APRESENTADOR(A) 3</a:t>
            </a:r>
          </a:p>
          <a:p>
            <a:r>
              <a:t>• Personalizem: citem um exemplo concreto do grupo para cada lição (quem viveu o quê).</a:t>
            </a:r>
          </a:p>
          <a:p>
            <a:r>
              <a:t>• A lição 1 é a maior: mergulhamos na tecnologia que dominávamos antes de reler a especificação. A lição 4 fecha o ciclo: avaliar como o professor avalia (clone limpo, link) teria revelado os problemas cedo.</a:t>
            </a:r>
          </a:p>
          <a:p>
            <a:r>
              <a:t>• Experiência da equipe: trabalhar por frentes (interface, dados, agendamento, sistema/documentação) ensinou integração — cada entrega dependia da anterior.</a:t>
            </a:r>
          </a:p>
          <a:p>
            <a:r>
              <a:t>TRANSIÇÃO: 'Para fechar...'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14:30–15:00 | TODOS (fecha o(a) Apresentador(a) 4)</a:t>
            </a:r>
          </a:p>
          <a:p>
            <a:r>
              <a:t>• Recapitule em 2 frases: entregamos uma agenda de serviços funcional e offline; reconhecemos que ela ainda não é o PWA hospedado da especificação e apresentamos o caminho.</a:t>
            </a:r>
          </a:p>
          <a:p>
            <a:r>
              <a:t>• Aponte o repositório e convide para perguntas. Deixem o app aberto no emulador/celular caso peçam para ver alguma função.</a:t>
            </a:r>
          </a:p>
          <a:p>
            <a:r>
              <a:t>• Perguntas prováveis: por que não web desde o início? como funciona o conflito? como a notificação dispara com o app fechado? — respostas nos slides 7, 9 e 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2011680"/>
            <a:ext cx="5669280" cy="5669280"/>
          </a:xfrm>
          <a:prstGeom prst="ellipse">
            <a:avLst/>
          </a:prstGeom>
          <a:solidFill>
            <a:srgbClr val="003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194560" y="4206240"/>
            <a:ext cx="4937760" cy="4937760"/>
          </a:xfrm>
          <a:prstGeom prst="ellipse">
            <a:avLst/>
          </a:prstGeom>
          <a:solidFill>
            <a:srgbClr val="004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943600" y="5029200"/>
            <a:ext cx="2377440" cy="2377440"/>
          </a:xfrm>
          <a:prstGeom prst="ellipse">
            <a:avLst/>
          </a:prstGeom>
          <a:solidFill>
            <a:srgbClr val="685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502920"/>
            <a:ext cx="4069080" cy="384048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006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502920"/>
            <a:ext cx="395935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CEE5FF"/>
                </a:solidFill>
                <a:latin typeface="Calibri"/>
              </a:rPr>
              <a:t>TRABALHO PRÁTICO • DESENVOLVIMENTO WEB / PWA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143000"/>
            <a:ext cx="60350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5200" b="1">
                <a:solidFill>
                  <a:srgbClr val="FFFFFF"/>
                </a:solidFill>
                <a:latin typeface="Calibri"/>
              </a:rPr>
              <a:t>Agenda de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5200" b="1">
                <a:solidFill>
                  <a:srgbClr val="FFFFFF"/>
                </a:solidFill>
                <a:latin typeface="Calibri"/>
              </a:rPr>
              <a:t>Serviços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71800"/>
            <a:ext cx="5760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CEE5FF"/>
                </a:solidFill>
                <a:latin typeface="Calibri"/>
              </a:rPr>
              <a:t>Agendamento inteligente para barbearias,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CEE5FF"/>
                </a:solidFill>
                <a:latin typeface="Calibri"/>
              </a:rPr>
              <a:t>salões, oficinas e prestadores de serviços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977639"/>
            <a:ext cx="1005840" cy="54864"/>
          </a:xfrm>
          <a:prstGeom prst="roundRect">
            <a:avLst>
              <a:gd name="adj" fmla="val 25000"/>
            </a:avLst>
          </a:prstGeom>
          <a:solidFill>
            <a:srgbClr val="CE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224528"/>
            <a:ext cx="6035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Grupo 2 — 4 integrantes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681728"/>
            <a:ext cx="6035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0">
                <a:solidFill>
                  <a:srgbClr val="D5E4F6"/>
                </a:solidFill>
                <a:latin typeface="Calibri"/>
              </a:rPr>
              <a:t>Integrantes: [Nome 1]  •  [Nome 2]  •  [Nome 3]  •  [Nome 4]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0">
                <a:solidFill>
                  <a:srgbClr val="D5E4F6"/>
                </a:solidFill>
                <a:latin typeface="Calibri"/>
              </a:rPr>
              <a:t>Turma/Disciplina: [preencher]  •  Professor(a): [preencher]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5715000"/>
            <a:ext cx="2788920" cy="402336"/>
          </a:xfrm>
          <a:prstGeom prst="roundRect">
            <a:avLst>
              <a:gd name="adj" fmla="val 25000"/>
            </a:avLst>
          </a:prstGeom>
          <a:solidFill>
            <a:srgbClr val="006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5715000"/>
            <a:ext cx="267919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Apresentação • 15 minutos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0" y="777240"/>
            <a:ext cx="2240280" cy="5349240"/>
          </a:xfrm>
          <a:prstGeom prst="roundRect">
            <a:avLst>
              <a:gd name="adj" fmla="val 6122"/>
            </a:avLst>
          </a:prstGeom>
          <a:solidFill>
            <a:srgbClr val="00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260336" y="859536"/>
            <a:ext cx="2075688" cy="5184648"/>
          </a:xfrm>
          <a:prstGeom prst="roundRect">
            <a:avLst>
              <a:gd name="adj" fmla="val 528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0336" y="859536"/>
            <a:ext cx="2075688" cy="658368"/>
          </a:xfrm>
          <a:prstGeom prst="roundRect">
            <a:avLst>
              <a:gd name="adj" fmla="val 16666"/>
            </a:avLst>
          </a:prstGeom>
          <a:solidFill>
            <a:srgbClr val="006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60336" y="1280160"/>
            <a:ext cx="2075688" cy="237744"/>
          </a:xfrm>
          <a:prstGeom prst="rect">
            <a:avLst/>
          </a:prstGeom>
          <a:solidFill>
            <a:srgbClr val="006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23859" y="960120"/>
            <a:ext cx="548640" cy="118872"/>
          </a:xfrm>
          <a:prstGeom prst="roundRect">
            <a:avLst>
              <a:gd name="adj" fmla="val 25000"/>
            </a:avLst>
          </a:prstGeom>
          <a:solidFill>
            <a:srgbClr val="00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78723" y="960120"/>
            <a:ext cx="438912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600" b="1">
                <a:solidFill>
                  <a:srgbClr val="001D33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15783" y="1051560"/>
            <a:ext cx="1764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15783" y="1709928"/>
            <a:ext cx="1764792" cy="310896"/>
          </a:xfrm>
          <a:prstGeom prst="roundRect">
            <a:avLst>
              <a:gd name="adj" fmla="val 25000"/>
            </a:avLst>
          </a:prstGeom>
          <a:solidFill>
            <a:srgbClr val="CE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1709928"/>
            <a:ext cx="16550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950" b="1">
                <a:solidFill>
                  <a:srgbClr val="001D33"/>
                </a:solidFill>
                <a:latin typeface="Calibri"/>
              </a:rPr>
              <a:t>Hoje  •  Terça-feira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15783" y="2185416"/>
            <a:ext cx="1764792" cy="786384"/>
          </a:xfrm>
          <a:prstGeom prst="roundRect">
            <a:avLst>
              <a:gd name="adj" fmla="val 5813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25511" y="2276856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00639A"/>
                </a:solidFill>
                <a:latin typeface="Calibri"/>
              </a:rPr>
              <a:t>09:00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25511" y="2551176"/>
            <a:ext cx="1581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1A1C1E"/>
                </a:solidFill>
                <a:latin typeface="Calibri"/>
              </a:rPr>
              <a:t>Ana • Corte feminino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29015" y="2258568"/>
            <a:ext cx="960120" cy="274320"/>
          </a:xfrm>
          <a:prstGeom prst="roundRect">
            <a:avLst>
              <a:gd name="adj" fmla="val 25000"/>
            </a:avLst>
          </a:prstGeom>
          <a:solidFill>
            <a:srgbClr val="E1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79" y="2258568"/>
            <a:ext cx="85039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0288D1"/>
                </a:solidFill>
                <a:latin typeface="Calibri"/>
              </a:rPr>
              <a:t>Confirmado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15783" y="3099816"/>
            <a:ext cx="1764792" cy="786384"/>
          </a:xfrm>
          <a:prstGeom prst="roundRect">
            <a:avLst>
              <a:gd name="adj" fmla="val 5813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25511" y="3191256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00639A"/>
                </a:solidFill>
                <a:latin typeface="Calibri"/>
              </a:rPr>
              <a:t>10:30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25511" y="3465576"/>
            <a:ext cx="1581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1A1C1E"/>
                </a:solidFill>
                <a:latin typeface="Calibri"/>
              </a:rPr>
              <a:t>João • barba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0456" y="3172968"/>
            <a:ext cx="868680" cy="274320"/>
          </a:xfrm>
          <a:prstGeom prst="roundRect">
            <a:avLst>
              <a:gd name="adj" fmla="val 25000"/>
            </a:avLst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20" y="317296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E65100"/>
                </a:solidFill>
                <a:latin typeface="Calibri"/>
              </a:rPr>
              <a:t>Pendente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15783" y="4014216"/>
            <a:ext cx="1764792" cy="786384"/>
          </a:xfrm>
          <a:prstGeom prst="roundRect">
            <a:avLst>
              <a:gd name="adj" fmla="val 5813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25511" y="4105656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00639A"/>
                </a:solidFill>
                <a:latin typeface="Calibri"/>
              </a:rPr>
              <a:t>11:15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25511" y="4379976"/>
            <a:ext cx="1581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1A1C1E"/>
                </a:solidFill>
                <a:latin typeface="Calibri"/>
              </a:rPr>
              <a:t>Maria • Coloração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0456" y="4087368"/>
            <a:ext cx="868680" cy="274320"/>
          </a:xfrm>
          <a:prstGeom prst="roundRect">
            <a:avLst>
              <a:gd name="adj" fmla="val 25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20" y="408736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2E7D32"/>
                </a:solidFill>
                <a:latin typeface="Calibri"/>
              </a:rPr>
              <a:t>Concluído</a:t>
            </a:r>
          </a:p>
        </p:txBody>
      </p:sp>
      <p:sp>
        <p:nvSpPr>
          <p:cNvPr id="39" name="Oval 38"/>
          <p:cNvSpPr/>
          <p:nvPr/>
        </p:nvSpPr>
        <p:spPr>
          <a:xfrm>
            <a:off x="8677656" y="4946904"/>
            <a:ext cx="475488" cy="475488"/>
          </a:xfrm>
          <a:prstGeom prst="ellipse">
            <a:avLst/>
          </a:prstGeom>
          <a:solidFill>
            <a:srgbClr val="006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77656" y="4956048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434071" y="5650992"/>
            <a:ext cx="1728217" cy="0"/>
          </a:xfrm>
          <a:prstGeom prst="line">
            <a:avLst/>
          </a:prstGeom>
          <a:ln w="9525">
            <a:solidFill>
              <a:srgbClr val="CBD9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452360" y="5724144"/>
            <a:ext cx="563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00639A"/>
                </a:solidFill>
                <a:latin typeface="Calibri"/>
              </a:rPr>
              <a:t>Agenda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16240" y="5724144"/>
            <a:ext cx="563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800" b="0">
                <a:solidFill>
                  <a:srgbClr val="51606F"/>
                </a:solidFill>
                <a:latin typeface="Calibri"/>
              </a:rPr>
              <a:t>Clientes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80120" y="5724144"/>
            <a:ext cx="563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800" b="0">
                <a:solidFill>
                  <a:srgbClr val="51606F"/>
                </a:solidFill>
                <a:latin typeface="Calibri"/>
              </a:rPr>
              <a:t>Serviços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464040" y="1143000"/>
            <a:ext cx="2148840" cy="4983480"/>
          </a:xfrm>
          <a:prstGeom prst="roundRect">
            <a:avLst>
              <a:gd name="adj" fmla="val 6382"/>
            </a:avLst>
          </a:prstGeom>
          <a:solidFill>
            <a:srgbClr val="00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546336" y="1225296"/>
            <a:ext cx="1984248" cy="4818888"/>
          </a:xfrm>
          <a:prstGeom prst="roundRect">
            <a:avLst>
              <a:gd name="adj" fmla="val 55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546336" y="1225296"/>
            <a:ext cx="1984248" cy="658368"/>
          </a:xfrm>
          <a:prstGeom prst="roundRect">
            <a:avLst>
              <a:gd name="adj" fmla="val 16666"/>
            </a:avLst>
          </a:prstGeom>
          <a:solidFill>
            <a:srgbClr val="006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46336" y="1645920"/>
            <a:ext cx="1984248" cy="237744"/>
          </a:xfrm>
          <a:prstGeom prst="rect">
            <a:avLst/>
          </a:prstGeom>
          <a:solidFill>
            <a:srgbClr val="006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264140" y="1325880"/>
            <a:ext cx="548640" cy="118872"/>
          </a:xfrm>
          <a:prstGeom prst="roundRect">
            <a:avLst>
              <a:gd name="adj" fmla="val 25000"/>
            </a:avLst>
          </a:prstGeom>
          <a:solidFill>
            <a:srgbClr val="00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19004" y="1325880"/>
            <a:ext cx="438912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600" b="1">
                <a:solidFill>
                  <a:srgbClr val="001D33"/>
                </a:solidFill>
                <a:latin typeface="Calibri"/>
              </a:rPr>
              <a:t/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01784" y="1417320"/>
            <a:ext cx="16733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Novo agendamento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01784" y="2075688"/>
            <a:ext cx="16733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1">
                <a:solidFill>
                  <a:srgbClr val="51606F"/>
                </a:solidFill>
                <a:latin typeface="Calibri"/>
              </a:rPr>
              <a:t>Cliente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701784" y="2286000"/>
            <a:ext cx="1673352" cy="365760"/>
          </a:xfrm>
          <a:prstGeom prst="roundRect">
            <a:avLst>
              <a:gd name="adj" fmla="val 11249"/>
            </a:avLst>
          </a:prstGeom>
          <a:solidFill>
            <a:srgbClr val="EEF3F8"/>
          </a:solidFill>
          <a:ln w="12700">
            <a:solidFill>
              <a:srgbClr val="CB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811511" y="2304288"/>
            <a:ext cx="149047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0">
                <a:solidFill>
                  <a:srgbClr val="1A1C1E"/>
                </a:solidFill>
                <a:latin typeface="Calibri"/>
              </a:rPr>
              <a:t>Ana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01784" y="2752344"/>
            <a:ext cx="16733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1">
                <a:solidFill>
                  <a:srgbClr val="51606F"/>
                </a:solidFill>
                <a:latin typeface="Calibri"/>
              </a:rPr>
              <a:t>Serviço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701784" y="2962656"/>
            <a:ext cx="1673352" cy="365760"/>
          </a:xfrm>
          <a:prstGeom prst="roundRect">
            <a:avLst>
              <a:gd name="adj" fmla="val 11249"/>
            </a:avLst>
          </a:prstGeom>
          <a:solidFill>
            <a:srgbClr val="EEF3F8"/>
          </a:solidFill>
          <a:ln w="12700">
            <a:solidFill>
              <a:srgbClr val="CB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11511" y="2980944"/>
            <a:ext cx="149047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0">
                <a:solidFill>
                  <a:srgbClr val="1A1C1E"/>
                </a:solidFill>
                <a:latin typeface="Calibri"/>
              </a:rPr>
              <a:t>Corte feminino (45 min)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01784" y="3429000"/>
            <a:ext cx="16733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1">
                <a:solidFill>
                  <a:srgbClr val="51606F"/>
                </a:solidFill>
                <a:latin typeface="Calibri"/>
              </a:rPr>
              <a:t>Data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701784" y="3639312"/>
            <a:ext cx="1673352" cy="365760"/>
          </a:xfrm>
          <a:prstGeom prst="roundRect">
            <a:avLst>
              <a:gd name="adj" fmla="val 11249"/>
            </a:avLst>
          </a:prstGeom>
          <a:solidFill>
            <a:srgbClr val="EEF3F8"/>
          </a:solidFill>
          <a:ln w="12700">
            <a:solidFill>
              <a:srgbClr val="CB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11511" y="3657600"/>
            <a:ext cx="149047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0">
                <a:solidFill>
                  <a:srgbClr val="1A1C1E"/>
                </a:solidFill>
                <a:latin typeface="Calibri"/>
              </a:rPr>
              <a:t>20/10/2026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01784" y="4105656"/>
            <a:ext cx="16733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1">
                <a:solidFill>
                  <a:srgbClr val="51606F"/>
                </a:solidFill>
                <a:latin typeface="Calibri"/>
              </a:rPr>
              <a:t>Horário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701784" y="4315968"/>
            <a:ext cx="1673352" cy="365760"/>
          </a:xfrm>
          <a:prstGeom prst="roundRect">
            <a:avLst>
              <a:gd name="adj" fmla="val 11249"/>
            </a:avLst>
          </a:prstGeom>
          <a:solidFill>
            <a:srgbClr val="EEF3F8"/>
          </a:solidFill>
          <a:ln w="12700">
            <a:solidFill>
              <a:srgbClr val="CB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811511" y="4334256"/>
            <a:ext cx="149047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0">
                <a:solidFill>
                  <a:srgbClr val="1A1C1E"/>
                </a:solidFill>
                <a:latin typeface="Calibri"/>
              </a:rPr>
              <a:t>09:00 – 09:45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701784" y="4800600"/>
            <a:ext cx="1673352" cy="402336"/>
          </a:xfrm>
          <a:prstGeom prst="roundRect">
            <a:avLst>
              <a:gd name="adj" fmla="val 25000"/>
            </a:avLst>
          </a:prstGeom>
          <a:solidFill>
            <a:srgbClr val="006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756648" y="4800600"/>
            <a:ext cx="156362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Salvar agendamento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01784" y="5294376"/>
            <a:ext cx="1673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1">
                <a:solidFill>
                  <a:srgbClr val="2E7D32"/>
                </a:solidFill>
                <a:latin typeface="Calibri"/>
              </a:rPr>
              <a:t>✓ Horário livre — sem conflito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9720072" y="5650992"/>
            <a:ext cx="1636776" cy="0"/>
          </a:xfrm>
          <a:prstGeom prst="line">
            <a:avLst/>
          </a:prstGeom>
          <a:ln w="9525">
            <a:solidFill>
              <a:srgbClr val="CBD9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9738360" y="5724144"/>
            <a:ext cx="533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00639A"/>
                </a:solidFill>
                <a:latin typeface="Calibri"/>
              </a:rPr>
              <a:t>Agenda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271760" y="5724144"/>
            <a:ext cx="533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800" b="0">
                <a:solidFill>
                  <a:srgbClr val="51606F"/>
                </a:solidFill>
                <a:latin typeface="Calibri"/>
              </a:rPr>
              <a:t>Clientes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805160" y="5724144"/>
            <a:ext cx="533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800" b="0">
                <a:solidFill>
                  <a:srgbClr val="51606F"/>
                </a:solidFill>
                <a:latin typeface="Calibri"/>
              </a:rPr>
              <a:t>Serviços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1417320" cy="329184"/>
          </a:xfrm>
          <a:prstGeom prst="roundRect">
            <a:avLst>
              <a:gd name="adj" fmla="val 25000"/>
            </a:avLst>
          </a:prstGeom>
          <a:solidFill>
            <a:srgbClr val="CE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347472"/>
            <a:ext cx="130759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001D33"/>
                </a:solidFill>
                <a:latin typeface="Calibri"/>
              </a:rPr>
              <a:t>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347472"/>
            <a:ext cx="107899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1100" b="1">
                <a:solidFill>
                  <a:srgbClr val="51606F"/>
                </a:solidFill>
                <a:latin typeface="Calibri"/>
              </a:rPr>
              <a:t>02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6809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800" b="1">
                <a:solidFill>
                  <a:srgbClr val="001D33"/>
                </a:solidFill>
                <a:latin typeface="Calibri"/>
              </a:rPr>
              <a:t>O ponto de partida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5331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0">
                <a:solidFill>
                  <a:srgbClr val="51606F"/>
                </a:solidFill>
                <a:latin typeface="Calibri"/>
              </a:rPr>
              <a:t>O que foi pedido — e o que trazemos para apresentar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19072"/>
            <a:ext cx="777240" cy="50292"/>
          </a:xfrm>
          <a:prstGeom prst="roundRect">
            <a:avLst>
              <a:gd name="adj" fmla="val 27272"/>
            </a:avLst>
          </a:prstGeom>
          <a:solidFill>
            <a:srgbClr val="006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51606F"/>
                </a:solidFill>
                <a:latin typeface="Calibri"/>
              </a:rPr>
              <a:t>Grupo 2  •  Agenda de Serviços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510528"/>
            <a:ext cx="3182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51606F"/>
                </a:solidFill>
                <a:latin typeface="Calibri"/>
              </a:rPr>
              <a:t>Trabalho Prático – Desenvolvimento Web / PWA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20240"/>
            <a:ext cx="5440680" cy="3246120"/>
          </a:xfrm>
          <a:prstGeom prst="roundRect">
            <a:avLst>
              <a:gd name="adj" fmla="val 1971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2176272"/>
            <a:ext cx="457200" cy="457200"/>
          </a:xfrm>
          <a:prstGeom prst="ellipse">
            <a:avLst/>
          </a:prstGeom>
          <a:solidFill>
            <a:srgbClr val="006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185415"/>
            <a:ext cx="4572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19456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1">
                <a:solidFill>
                  <a:srgbClr val="001D33"/>
                </a:solidFill>
                <a:latin typeface="Calibri"/>
              </a:rPr>
              <a:t>A especificação do trabalho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852928"/>
            <a:ext cx="4892040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450" b="0">
                <a:solidFill>
                  <a:srgbClr val="1A1C1E"/>
                </a:solidFill>
                <a:latin typeface="Calibri"/>
              </a:rPr>
              <a:t>• Desenvolver um aplicativo web em formato PWA, hospedado em nuvem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450" b="0">
                <a:solidFill>
                  <a:srgbClr val="1A1C1E"/>
                </a:solidFill>
                <a:latin typeface="Calibri"/>
              </a:rPr>
              <a:t>• Grupo 2: App Agenda de Serviços (barbearia/oficina) — cadastro de cliente, horários e status, com calendário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450" b="0">
                <a:solidFill>
                  <a:srgbClr val="1A1C1E"/>
                </a:solidFill>
                <a:latin typeface="Calibri"/>
              </a:rPr>
              <a:t>• Entregáveis: link público do app + link do repositório GitHub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920240"/>
            <a:ext cx="5422392" cy="3246120"/>
          </a:xfrm>
          <a:prstGeom prst="roundRect">
            <a:avLst>
              <a:gd name="adj" fmla="val 1971"/>
            </a:avLst>
          </a:prstGeom>
          <a:solidFill>
            <a:srgbClr val="EBF4FD"/>
          </a:solidFill>
          <a:ln w="12700">
            <a:solidFill>
              <a:srgbClr val="CE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37960" y="2176272"/>
            <a:ext cx="457200" cy="457200"/>
          </a:xfrm>
          <a:prstGeom prst="ellipse">
            <a:avLst/>
          </a:prstGeom>
          <a:solidFill>
            <a:srgbClr val="006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185415"/>
            <a:ext cx="4572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19456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1">
                <a:solidFill>
                  <a:srgbClr val="001D33"/>
                </a:solidFill>
                <a:latin typeface="Calibri"/>
              </a:rPr>
              <a:t>O que construímos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852928"/>
            <a:ext cx="4892040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450" b="0">
                <a:solidFill>
                  <a:srgbClr val="1A1C1E"/>
                </a:solidFill>
                <a:latin typeface="Calibri"/>
              </a:rPr>
              <a:t>• Um app funcional de agenda de serviços, com o tema e as funções do Grupo 2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450" b="0">
                <a:solidFill>
                  <a:srgbClr val="1A1C1E"/>
                </a:solidFill>
                <a:latin typeface="Calibri"/>
              </a:rPr>
              <a:t>• Construído como Android nativo (Kotlin), não como página web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450" b="0">
                <a:solidFill>
                  <a:srgbClr val="1A1C1E"/>
                </a:solidFill>
                <a:latin typeface="Calibri"/>
              </a:rPr>
              <a:t>• Nesta apresentação, mostramos o que atende, onde diverge do PWA e como corrigir o rumo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440680"/>
            <a:ext cx="11183112" cy="713232"/>
          </a:xfrm>
          <a:prstGeom prst="roundRect">
            <a:avLst>
              <a:gd name="adj" fmla="val 8974"/>
            </a:avLst>
          </a:prstGeom>
          <a:solidFill>
            <a:srgbClr val="00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440680"/>
            <a:ext cx="106070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Nosso compromisso nesta apresentação: demonstrar a solução, as decisões técnicas e o aprendizado — sem esconder as pendências.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1417320" cy="329184"/>
          </a:xfrm>
          <a:prstGeom prst="roundRect">
            <a:avLst>
              <a:gd name="adj" fmla="val 25000"/>
            </a:avLst>
          </a:prstGeom>
          <a:solidFill>
            <a:srgbClr val="CE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347472"/>
            <a:ext cx="130759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001D33"/>
                </a:solidFill>
                <a:latin typeface="Calibri"/>
              </a:rPr>
              <a:t>O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347472"/>
            <a:ext cx="107899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1100" b="1">
                <a:solidFill>
                  <a:srgbClr val="51606F"/>
                </a:solidFill>
                <a:latin typeface="Calibri"/>
              </a:rPr>
              <a:t>03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6809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800" b="1">
                <a:solidFill>
                  <a:srgbClr val="001D33"/>
                </a:solidFill>
                <a:latin typeface="Calibri"/>
              </a:rPr>
              <a:t>Agenda manual gera retrabalho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5331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0">
                <a:solidFill>
                  <a:srgbClr val="51606F"/>
                </a:solidFill>
                <a:latin typeface="Calibri"/>
              </a:rPr>
              <a:t>Três dores de quem atende com hora marcada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19072"/>
            <a:ext cx="777240" cy="50292"/>
          </a:xfrm>
          <a:prstGeom prst="roundRect">
            <a:avLst>
              <a:gd name="adj" fmla="val 27272"/>
            </a:avLst>
          </a:prstGeom>
          <a:solidFill>
            <a:srgbClr val="006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51606F"/>
                </a:solidFill>
                <a:latin typeface="Calibri"/>
              </a:rPr>
              <a:t>Grupo 2  •  Agenda de Serviços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510528"/>
            <a:ext cx="3182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51606F"/>
                </a:solidFill>
                <a:latin typeface="Calibri"/>
              </a:rPr>
              <a:t>Trabalho Prático – Desenvolvimento Web / PWA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20240"/>
            <a:ext cx="3584448" cy="3017520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920240"/>
            <a:ext cx="3584448" cy="91440"/>
          </a:xfrm>
          <a:prstGeom prst="roundRect">
            <a:avLst>
              <a:gd name="adj" fmla="val 25000"/>
            </a:avLst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8952" y="2212848"/>
            <a:ext cx="475488" cy="475488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2221991"/>
            <a:ext cx="475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231136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650" b="1">
                <a:solidFill>
                  <a:srgbClr val="001D33"/>
                </a:solidFill>
                <a:latin typeface="Calibri"/>
              </a:rPr>
              <a:t>Informação espalhada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2880360"/>
            <a:ext cx="3072384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50" b="0">
                <a:solidFill>
                  <a:srgbClr val="1A1C1E"/>
                </a:solidFill>
                <a:latin typeface="Calibri"/>
              </a:rPr>
              <a:t>Clientes, preços e horários ficam no caderno, na cabeça e nas conversas do WhatsApp.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4160520"/>
            <a:ext cx="307238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50" b="1">
                <a:solidFill>
                  <a:srgbClr val="51606F"/>
                </a:solidFill>
                <a:latin typeface="Calibri"/>
              </a:rPr>
              <a:t>Resultado: difícil consultar, buscar e manter o histórico.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5112" y="1920240"/>
            <a:ext cx="3584448" cy="3017520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25112" y="1920240"/>
            <a:ext cx="3584448" cy="91440"/>
          </a:xfrm>
          <a:prstGeom prst="roundRect">
            <a:avLst>
              <a:gd name="adj" fmla="val 25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81144" y="2212848"/>
            <a:ext cx="475488" cy="47548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1144" y="2221991"/>
            <a:ext cx="475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3792" y="2231136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650" b="1">
                <a:solidFill>
                  <a:srgbClr val="001D33"/>
                </a:solidFill>
                <a:latin typeface="Calibri"/>
              </a:rPr>
              <a:t>Conflito de horário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1144" y="2880360"/>
            <a:ext cx="3072384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50" b="0">
                <a:solidFill>
                  <a:srgbClr val="1A1C1E"/>
                </a:solidFill>
                <a:latin typeface="Calibri"/>
              </a:rPr>
              <a:t>Sem validar a duração de cada serviço, dois atendimentos acabam sobrepostos.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4160520"/>
            <a:ext cx="307238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50" b="1">
                <a:solidFill>
                  <a:srgbClr val="51606F"/>
                </a:solidFill>
                <a:latin typeface="Calibri"/>
              </a:rPr>
              <a:t>Resultado: espera, atraso em cadeia e cliente insatisfeito.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47304" y="1920240"/>
            <a:ext cx="3584448" cy="3017520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47304" y="1920240"/>
            <a:ext cx="3584448" cy="91440"/>
          </a:xfrm>
          <a:prstGeom prst="roundRect">
            <a:avLst>
              <a:gd name="adj" fmla="val 25000"/>
            </a:avLst>
          </a:prstGeom>
          <a:solidFill>
            <a:srgbClr val="685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03336" y="2212848"/>
            <a:ext cx="475488" cy="475488"/>
          </a:xfrm>
          <a:prstGeom prst="ellipse">
            <a:avLst/>
          </a:prstGeom>
          <a:solidFill>
            <a:srgbClr val="685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03336" y="2221991"/>
            <a:ext cx="475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15984" y="2231136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650" b="1">
                <a:solidFill>
                  <a:srgbClr val="001D33"/>
                </a:solidFill>
                <a:latin typeface="Calibri"/>
              </a:rPr>
              <a:t>Esquecimento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03336" y="2880360"/>
            <a:ext cx="3072384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50" b="0">
                <a:solidFill>
                  <a:srgbClr val="1A1C1E"/>
                </a:solidFill>
                <a:latin typeface="Calibri"/>
              </a:rPr>
              <a:t>Nem o profissional nem o cliente recebem um lembrete perto do atendimento.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03336" y="4160520"/>
            <a:ext cx="307238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50" b="1">
                <a:solidFill>
                  <a:srgbClr val="51606F"/>
                </a:solidFill>
                <a:latin typeface="Calibri"/>
              </a:rPr>
              <a:t>Resultado: faltas (no-show) e horários vagos que poderiam render.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212080"/>
            <a:ext cx="11183112" cy="868680"/>
          </a:xfrm>
          <a:prstGeom prst="roundRect">
            <a:avLst>
              <a:gd name="adj" fmla="val 7368"/>
            </a:avLst>
          </a:prstGeom>
          <a:solidFill>
            <a:srgbClr val="EBF4FD"/>
          </a:solidFill>
          <a:ln w="12700">
            <a:solidFill>
              <a:srgbClr val="CE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212080"/>
            <a:ext cx="106527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450" b="1">
                <a:solidFill>
                  <a:srgbClr val="001D33"/>
                </a:solidFill>
                <a:latin typeface="Calibri"/>
              </a:rPr>
              <a:t>Público-alvo: barbearias, salões de beleza, oficinas e prestadores autônomos que precisam controlar atendimentos pelo celular — mesmo sem internet.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1417320" cy="329184"/>
          </a:xfrm>
          <a:prstGeom prst="roundRect">
            <a:avLst>
              <a:gd name="adj" fmla="val 25000"/>
            </a:avLst>
          </a:prstGeom>
          <a:solidFill>
            <a:srgbClr val="CE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347472"/>
            <a:ext cx="130759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001D33"/>
                </a:solidFill>
                <a:latin typeface="Calibri"/>
              </a:rPr>
              <a:t>A SOLUÇÃO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347472"/>
            <a:ext cx="107899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1100" b="1">
                <a:solidFill>
                  <a:srgbClr val="51606F"/>
                </a:solidFill>
                <a:latin typeface="Calibri"/>
              </a:rPr>
              <a:t>04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6809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800" b="1">
                <a:solidFill>
                  <a:srgbClr val="001D33"/>
                </a:solidFill>
                <a:latin typeface="Calibri"/>
              </a:rPr>
              <a:t>O que o app entregue faz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5331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0">
                <a:solidFill>
                  <a:srgbClr val="51606F"/>
                </a:solidFill>
                <a:latin typeface="Calibri"/>
              </a:rPr>
              <a:t>Funcionalidades ligadas diretamente às três 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19072"/>
            <a:ext cx="777240" cy="50292"/>
          </a:xfrm>
          <a:prstGeom prst="roundRect">
            <a:avLst>
              <a:gd name="adj" fmla="val 27272"/>
            </a:avLst>
          </a:prstGeom>
          <a:solidFill>
            <a:srgbClr val="006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51606F"/>
                </a:solidFill>
                <a:latin typeface="Calibri"/>
              </a:rPr>
              <a:t>Grupo 2  •  Agenda de Serviços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510528"/>
            <a:ext cx="3182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51606F"/>
                </a:solidFill>
                <a:latin typeface="Calibri"/>
              </a:rPr>
              <a:t>Trabalho Prático – Desenvolvimento Web / PWA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20240"/>
            <a:ext cx="3584448" cy="1316736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22376" y="2139696"/>
            <a:ext cx="420624" cy="420624"/>
          </a:xfrm>
          <a:prstGeom prst="ellipse">
            <a:avLst/>
          </a:prstGeom>
          <a:solidFill>
            <a:srgbClr val="006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2148840"/>
            <a:ext cx="42062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9304" y="2103120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550" b="1">
                <a:solidFill>
                  <a:srgbClr val="001D33"/>
                </a:solidFill>
                <a:latin typeface="Calibri"/>
              </a:rPr>
              <a:t>Clientes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9304" y="2487168"/>
            <a:ext cx="26334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51606F"/>
                </a:solidFill>
                <a:latin typeface="Calibri"/>
              </a:rPr>
              <a:t>Cadastro com telefone/WhatsApp, busca e edição.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5112" y="1920240"/>
            <a:ext cx="3584448" cy="1316736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44568" y="2139696"/>
            <a:ext cx="420624" cy="420624"/>
          </a:xfrm>
          <a:prstGeom prst="ellipse">
            <a:avLst/>
          </a:prstGeom>
          <a:solidFill>
            <a:srgbClr val="006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4568" y="2148840"/>
            <a:ext cx="42062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11496" y="2103120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550" b="1">
                <a:solidFill>
                  <a:srgbClr val="001D33"/>
                </a:solidFill>
                <a:latin typeface="Calibri"/>
              </a:rPr>
              <a:t>Serviços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11496" y="2487168"/>
            <a:ext cx="26334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51606F"/>
                </a:solidFill>
                <a:latin typeface="Calibri"/>
              </a:rPr>
              <a:t>Preço em R$ e duração em minutos de cada atendimento.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47304" y="1920240"/>
            <a:ext cx="3584448" cy="1316736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66760" y="2139696"/>
            <a:ext cx="420624" cy="420624"/>
          </a:xfrm>
          <a:prstGeom prst="ellipse">
            <a:avLst/>
          </a:prstGeom>
          <a:solidFill>
            <a:srgbClr val="006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2148840"/>
            <a:ext cx="42062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33688" y="2103120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550" b="1">
                <a:solidFill>
                  <a:srgbClr val="001D33"/>
                </a:solidFill>
                <a:latin typeface="Calibri"/>
              </a:rPr>
              <a:t>Agendamentos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33688" y="2487168"/>
            <a:ext cx="26334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51606F"/>
                </a:solidFill>
                <a:latin typeface="Calibri"/>
              </a:rPr>
              <a:t>Cliente + serviço + data e horário, com observações.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401568"/>
            <a:ext cx="3584448" cy="1316736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2376" y="3621024"/>
            <a:ext cx="420624" cy="420624"/>
          </a:xfrm>
          <a:prstGeom prst="ellipse">
            <a:avLst/>
          </a:prstGeom>
          <a:solidFill>
            <a:srgbClr val="685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" y="3630168"/>
            <a:ext cx="42062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9304" y="3584448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550" b="1">
                <a:solidFill>
                  <a:srgbClr val="001D33"/>
                </a:solidFill>
                <a:latin typeface="Calibri"/>
              </a:rPr>
              <a:t>Sem conflito de horário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9304" y="3968496"/>
            <a:ext cx="26334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51606F"/>
                </a:solidFill>
                <a:latin typeface="Calibri"/>
              </a:rPr>
              <a:t>Validação de sobreposição que bloqueia choque de agenda.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25112" y="3401568"/>
            <a:ext cx="3584448" cy="1316736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44568" y="3621024"/>
            <a:ext cx="420624" cy="420624"/>
          </a:xfrm>
          <a:prstGeom prst="ellipse">
            <a:avLst/>
          </a:prstGeom>
          <a:solidFill>
            <a:srgbClr val="685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44568" y="3630168"/>
            <a:ext cx="42062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11496" y="3584448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550" b="1">
                <a:solidFill>
                  <a:srgbClr val="001D33"/>
                </a:solidFill>
                <a:latin typeface="Calibri"/>
              </a:rPr>
              <a:t>Visão da agenda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11496" y="3968496"/>
            <a:ext cx="26334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51606F"/>
                </a:solidFill>
                <a:latin typeface="Calibri"/>
              </a:rPr>
              <a:t>Lista por dia, busca em tempo real e filtros por status.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47304" y="3401568"/>
            <a:ext cx="3584448" cy="1316736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366760" y="3621024"/>
            <a:ext cx="420624" cy="420624"/>
          </a:xfrm>
          <a:prstGeom prst="ellipse">
            <a:avLst/>
          </a:prstGeom>
          <a:solidFill>
            <a:srgbClr val="685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66760" y="3630168"/>
            <a:ext cx="42062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33688" y="3584448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550" b="1">
                <a:solidFill>
                  <a:srgbClr val="001D33"/>
                </a:solidFill>
                <a:latin typeface="Calibri"/>
              </a:rPr>
              <a:t>Lembretes locais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33688" y="3968496"/>
            <a:ext cx="26334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51606F"/>
                </a:solidFill>
                <a:latin typeface="Calibri"/>
              </a:rPr>
              <a:t>Notificação 15 minutos antes, mesmo com o app fechado.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50749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>
                <a:solidFill>
                  <a:srgbClr val="001D33"/>
                </a:solidFill>
                <a:latin typeface="Calibri"/>
              </a:rPr>
              <a:t>Ciclo de vida do atendimento: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703320" y="5074920"/>
            <a:ext cx="1481328" cy="384048"/>
          </a:xfrm>
          <a:prstGeom prst="roundRect">
            <a:avLst>
              <a:gd name="adj" fmla="val 25000"/>
            </a:avLst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58183" y="5074920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200" b="1">
                <a:solidFill>
                  <a:srgbClr val="E65100"/>
                </a:solidFill>
                <a:latin typeface="Calibri"/>
              </a:rPr>
              <a:t>Pendente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84648" y="507492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500" b="1">
                <a:solidFill>
                  <a:srgbClr val="51606F"/>
                </a:solidFill>
                <a:latin typeface="Calibri"/>
              </a:rPr>
              <a:t>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568696" y="5074920"/>
            <a:ext cx="1481328" cy="384048"/>
          </a:xfrm>
          <a:prstGeom prst="roundRect">
            <a:avLst>
              <a:gd name="adj" fmla="val 25000"/>
            </a:avLst>
          </a:prstGeom>
          <a:solidFill>
            <a:srgbClr val="E1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23559" y="5074920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200" b="1">
                <a:solidFill>
                  <a:srgbClr val="0288D1"/>
                </a:solidFill>
                <a:latin typeface="Calibri"/>
              </a:rPr>
              <a:t>Confirmado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50024" y="507492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500" b="1">
                <a:solidFill>
                  <a:srgbClr val="51606F"/>
                </a:solidFill>
                <a:latin typeface="Calibri"/>
              </a:rPr>
              <a:t>→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434071" y="5074920"/>
            <a:ext cx="1481328" cy="384048"/>
          </a:xfrm>
          <a:prstGeom prst="roundRect">
            <a:avLst>
              <a:gd name="adj" fmla="val 25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88936" y="5074920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200" b="1">
                <a:solidFill>
                  <a:srgbClr val="2E7D32"/>
                </a:solidFill>
                <a:latin typeface="Calibri"/>
              </a:rPr>
              <a:t>Concluído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15400" y="507492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200" b="1">
                <a:solidFill>
                  <a:srgbClr val="51606F"/>
                </a:solidFill>
                <a:latin typeface="Calibri"/>
              </a:rPr>
              <a:t>ou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299447" y="5074920"/>
            <a:ext cx="1481328" cy="384048"/>
          </a:xfrm>
          <a:prstGeom prst="roundRect">
            <a:avLst>
              <a:gd name="adj" fmla="val 25000"/>
            </a:avLst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54311" y="5074920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200" b="1">
                <a:solidFill>
                  <a:srgbClr val="C62828"/>
                </a:solidFill>
                <a:latin typeface="Calibri"/>
              </a:rPr>
              <a:t>Cancelado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564184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300" b="0">
                <a:solidFill>
                  <a:srgbClr val="51606F"/>
                </a:solidFill>
                <a:latin typeface="Calibri"/>
              </a:rPr>
              <a:t>Tudo salvo localmente no aparelho: o app funciona 100% offline (detalhes técnicos nos próximos slides).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1452067" cy="329184"/>
          </a:xfrm>
          <a:prstGeom prst="roundRect">
            <a:avLst>
              <a:gd name="adj" fmla="val 25000"/>
            </a:avLst>
          </a:prstGeom>
          <a:solidFill>
            <a:srgbClr val="CE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347472"/>
            <a:ext cx="134233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001D33"/>
                </a:solidFill>
                <a:latin typeface="Calibri"/>
              </a:rPr>
              <a:t>DEMONSTRAÇÃO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347472"/>
            <a:ext cx="107899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1100" b="1">
                <a:solidFill>
                  <a:srgbClr val="51606F"/>
                </a:solidFill>
                <a:latin typeface="Calibri"/>
              </a:rPr>
              <a:t>05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6809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800" b="1">
                <a:solidFill>
                  <a:srgbClr val="001D33"/>
                </a:solidFill>
                <a:latin typeface="Calibri"/>
              </a:rPr>
              <a:t>Do cadastro ao lembrete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5331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0">
                <a:solidFill>
                  <a:srgbClr val="51606F"/>
                </a:solidFill>
                <a:latin typeface="Calibri"/>
              </a:rPr>
              <a:t>As telas principais e o fluxo que vamos mostrar ao vivo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19072"/>
            <a:ext cx="777240" cy="50292"/>
          </a:xfrm>
          <a:prstGeom prst="roundRect">
            <a:avLst>
              <a:gd name="adj" fmla="val 27272"/>
            </a:avLst>
          </a:prstGeom>
          <a:solidFill>
            <a:srgbClr val="006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51606F"/>
                </a:solidFill>
                <a:latin typeface="Calibri"/>
              </a:rPr>
              <a:t>Grupo 2  •  Agenda de Serviços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510528"/>
            <a:ext cx="3182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51606F"/>
                </a:solidFill>
                <a:latin typeface="Calibri"/>
              </a:rPr>
              <a:t>Trabalho Prático – Desenvolvimento Web / PWA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874520"/>
            <a:ext cx="2103120" cy="4572000"/>
          </a:xfrm>
          <a:prstGeom prst="roundRect">
            <a:avLst>
              <a:gd name="adj" fmla="val 6521"/>
            </a:avLst>
          </a:prstGeom>
          <a:solidFill>
            <a:srgbClr val="00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5216" y="1956816"/>
            <a:ext cx="1938527" cy="440740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5216" y="1956816"/>
            <a:ext cx="1938527" cy="658368"/>
          </a:xfrm>
          <a:prstGeom prst="roundRect">
            <a:avLst>
              <a:gd name="adj" fmla="val 16666"/>
            </a:avLst>
          </a:prstGeom>
          <a:solidFill>
            <a:srgbClr val="006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5216" y="2377440"/>
            <a:ext cx="1938527" cy="237744"/>
          </a:xfrm>
          <a:prstGeom prst="rect">
            <a:avLst/>
          </a:prstGeom>
          <a:solidFill>
            <a:srgbClr val="006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280160" y="2057400"/>
            <a:ext cx="548640" cy="118872"/>
          </a:xfrm>
          <a:prstGeom prst="roundRect">
            <a:avLst>
              <a:gd name="adj" fmla="val 25000"/>
            </a:avLst>
          </a:prstGeom>
          <a:solidFill>
            <a:srgbClr val="00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35024" y="2057400"/>
            <a:ext cx="438912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600" b="1">
                <a:solidFill>
                  <a:srgbClr val="001D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2148840"/>
            <a:ext cx="16276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" y="2807208"/>
            <a:ext cx="1627631" cy="274320"/>
          </a:xfrm>
          <a:prstGeom prst="roundRect">
            <a:avLst>
              <a:gd name="adj" fmla="val 25000"/>
            </a:avLst>
          </a:prstGeom>
          <a:solidFill>
            <a:srgbClr val="CE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2807208"/>
            <a:ext cx="151790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950" b="1">
                <a:solidFill>
                  <a:srgbClr val="001D33"/>
                </a:solidFill>
                <a:latin typeface="Calibri"/>
              </a:rPr>
              <a:t>Hoje  •  Terça-feira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" y="3209544"/>
            <a:ext cx="1627631" cy="694944"/>
          </a:xfrm>
          <a:prstGeom prst="roundRect">
            <a:avLst>
              <a:gd name="adj" fmla="val 6578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3300984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00639A"/>
                </a:solidFill>
                <a:latin typeface="Calibri"/>
              </a:rPr>
              <a:t>09:00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3575304"/>
            <a:ext cx="14447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1A1C1E"/>
                </a:solidFill>
                <a:latin typeface="Calibri"/>
              </a:rPr>
              <a:t>Ana • Corte feminino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6735" y="3282696"/>
            <a:ext cx="960120" cy="274320"/>
          </a:xfrm>
          <a:prstGeom prst="roundRect">
            <a:avLst>
              <a:gd name="adj" fmla="val 25000"/>
            </a:avLst>
          </a:prstGeom>
          <a:solidFill>
            <a:srgbClr val="E1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599" y="3282696"/>
            <a:ext cx="85039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0288D1"/>
                </a:solidFill>
                <a:latin typeface="Calibri"/>
              </a:rPr>
              <a:t>Confirmado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" y="3995928"/>
            <a:ext cx="1627631" cy="694944"/>
          </a:xfrm>
          <a:prstGeom prst="roundRect">
            <a:avLst>
              <a:gd name="adj" fmla="val 6578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408736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00639A"/>
                </a:solidFill>
                <a:latin typeface="Calibri"/>
              </a:rPr>
              <a:t>10:30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" y="4361688"/>
            <a:ext cx="14447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1A1C1E"/>
                </a:solidFill>
                <a:latin typeface="Calibri"/>
              </a:rPr>
              <a:t>João • barba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08175" y="4069080"/>
            <a:ext cx="868680" cy="274320"/>
          </a:xfrm>
          <a:prstGeom prst="roundRect">
            <a:avLst>
              <a:gd name="adj" fmla="val 25000"/>
            </a:avLst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39" y="4069080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E65100"/>
                </a:solidFill>
                <a:latin typeface="Calibri"/>
              </a:rPr>
              <a:t>Pendente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0664" y="4782312"/>
            <a:ext cx="1627631" cy="694944"/>
          </a:xfrm>
          <a:prstGeom prst="roundRect">
            <a:avLst>
              <a:gd name="adj" fmla="val 6578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" y="487375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00639A"/>
                </a:solidFill>
                <a:latin typeface="Calibri"/>
              </a:rPr>
              <a:t>11:15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" y="5148072"/>
            <a:ext cx="14447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1A1C1E"/>
                </a:solidFill>
                <a:latin typeface="Calibri"/>
              </a:rPr>
              <a:t>Maria • Coloração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08175" y="4855464"/>
            <a:ext cx="868680" cy="274320"/>
          </a:xfrm>
          <a:prstGeom prst="roundRect">
            <a:avLst>
              <a:gd name="adj" fmla="val 25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63039" y="4855464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2E7D32"/>
                </a:solidFill>
                <a:latin typeface="Calibri"/>
              </a:rPr>
              <a:t>Concluído</a:t>
            </a:r>
          </a:p>
        </p:txBody>
      </p:sp>
      <p:sp>
        <p:nvSpPr>
          <p:cNvPr id="35" name="Oval 34"/>
          <p:cNvSpPr/>
          <p:nvPr/>
        </p:nvSpPr>
        <p:spPr>
          <a:xfrm>
            <a:off x="1975104" y="5586984"/>
            <a:ext cx="365760" cy="365760"/>
          </a:xfrm>
          <a:prstGeom prst="ellipse">
            <a:avLst/>
          </a:prstGeom>
          <a:solidFill>
            <a:srgbClr val="006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75104" y="5596128"/>
            <a:ext cx="365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58952" y="5971032"/>
            <a:ext cx="1591055" cy="0"/>
          </a:xfrm>
          <a:prstGeom prst="line">
            <a:avLst/>
          </a:prstGeom>
          <a:ln w="9525">
            <a:solidFill>
              <a:srgbClr val="CBD9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77240" y="6044184"/>
            <a:ext cx="5181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00639A"/>
                </a:solidFill>
                <a:latin typeface="Calibri"/>
              </a:rPr>
              <a:t>Agenda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95399" y="6044184"/>
            <a:ext cx="5181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800" b="0">
                <a:solidFill>
                  <a:srgbClr val="51606F"/>
                </a:solidFill>
                <a:latin typeface="Calibri"/>
              </a:rPr>
              <a:t>Clientes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13559" y="6044184"/>
            <a:ext cx="5181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800" b="0">
                <a:solidFill>
                  <a:srgbClr val="51606F"/>
                </a:solidFill>
                <a:latin typeface="Calibri"/>
              </a:rPr>
              <a:t>Serviços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88920" y="1874520"/>
            <a:ext cx="2103120" cy="4572000"/>
          </a:xfrm>
          <a:prstGeom prst="roundRect">
            <a:avLst>
              <a:gd name="adj" fmla="val 6521"/>
            </a:avLst>
          </a:prstGeom>
          <a:solidFill>
            <a:srgbClr val="00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871215" y="1956816"/>
            <a:ext cx="1938527" cy="440740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2871215" y="1956816"/>
            <a:ext cx="1938527" cy="658368"/>
          </a:xfrm>
          <a:prstGeom prst="roundRect">
            <a:avLst>
              <a:gd name="adj" fmla="val 16666"/>
            </a:avLst>
          </a:prstGeom>
          <a:solidFill>
            <a:srgbClr val="006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871215" y="2377440"/>
            <a:ext cx="1938527" cy="237744"/>
          </a:xfrm>
          <a:prstGeom prst="rect">
            <a:avLst/>
          </a:prstGeom>
          <a:solidFill>
            <a:srgbClr val="006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566159" y="2057400"/>
            <a:ext cx="548640" cy="118872"/>
          </a:xfrm>
          <a:prstGeom prst="roundRect">
            <a:avLst>
              <a:gd name="adj" fmla="val 25000"/>
            </a:avLst>
          </a:prstGeom>
          <a:solidFill>
            <a:srgbClr val="00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21023" y="2057400"/>
            <a:ext cx="438912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600" b="1">
                <a:solidFill>
                  <a:srgbClr val="001D33"/>
                </a:solidFill>
                <a:latin typeface="Calibri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26663" y="2148840"/>
            <a:ext cx="16276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Clientes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026663" y="2807208"/>
            <a:ext cx="1627631" cy="384048"/>
          </a:xfrm>
          <a:prstGeom prst="roundRect">
            <a:avLst>
              <a:gd name="adj" fmla="val 11904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154679" y="2852928"/>
            <a:ext cx="144475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51606F"/>
                </a:solidFill>
                <a:latin typeface="Calibri"/>
              </a:rPr>
              <a:t>Buscar cliente...</a:t>
            </a:r>
          </a:p>
        </p:txBody>
      </p:sp>
      <p:sp>
        <p:nvSpPr>
          <p:cNvPr id="50" name="Oval 49"/>
          <p:cNvSpPr/>
          <p:nvPr/>
        </p:nvSpPr>
        <p:spPr>
          <a:xfrm>
            <a:off x="3026663" y="3337560"/>
            <a:ext cx="438912" cy="438912"/>
          </a:xfrm>
          <a:prstGeom prst="ellipse">
            <a:avLst/>
          </a:prstGeom>
          <a:solidFill>
            <a:srgbClr val="CE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26663" y="3355848"/>
            <a:ext cx="43891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200" b="1">
                <a:solidFill>
                  <a:srgbClr val="001D33"/>
                </a:solidFill>
                <a:latin typeface="Calibri"/>
              </a:rPr>
              <a:t>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93591" y="3319272"/>
            <a:ext cx="10241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1A1C1E"/>
                </a:solidFill>
                <a:latin typeface="Calibri"/>
              </a:rPr>
              <a:t>Ana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93591" y="3584448"/>
            <a:ext cx="10241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51606F"/>
                </a:solidFill>
                <a:latin typeface="Calibri"/>
              </a:rPr>
              <a:t>(62) 99999-1020</a:t>
            </a:r>
          </a:p>
        </p:txBody>
      </p:sp>
      <p:sp>
        <p:nvSpPr>
          <p:cNvPr id="54" name="Oval 53"/>
          <p:cNvSpPr/>
          <p:nvPr/>
        </p:nvSpPr>
        <p:spPr>
          <a:xfrm>
            <a:off x="3026663" y="3977640"/>
            <a:ext cx="438912" cy="438912"/>
          </a:xfrm>
          <a:prstGeom prst="ellipse">
            <a:avLst/>
          </a:prstGeom>
          <a:solidFill>
            <a:srgbClr val="CE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26663" y="3995928"/>
            <a:ext cx="43891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200" b="1">
                <a:solidFill>
                  <a:srgbClr val="001D33"/>
                </a:solidFill>
                <a:latin typeface="Calibri"/>
              </a:rPr>
              <a:t>J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93591" y="3959352"/>
            <a:ext cx="10241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1A1C1E"/>
                </a:solidFill>
                <a:latin typeface="Calibri"/>
              </a:rPr>
              <a:t>João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93591" y="4224528"/>
            <a:ext cx="10241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51606F"/>
                </a:solidFill>
                <a:latin typeface="Calibri"/>
              </a:rPr>
              <a:t>(62) 98888-7788</a:t>
            </a:r>
          </a:p>
        </p:txBody>
      </p:sp>
      <p:sp>
        <p:nvSpPr>
          <p:cNvPr id="58" name="Oval 57"/>
          <p:cNvSpPr/>
          <p:nvPr/>
        </p:nvSpPr>
        <p:spPr>
          <a:xfrm>
            <a:off x="3026663" y="4617720"/>
            <a:ext cx="438912" cy="438912"/>
          </a:xfrm>
          <a:prstGeom prst="ellipse">
            <a:avLst/>
          </a:prstGeom>
          <a:solidFill>
            <a:srgbClr val="CE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026663" y="4636008"/>
            <a:ext cx="43891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200" b="1">
                <a:solidFill>
                  <a:srgbClr val="001D33"/>
                </a:solidFill>
                <a:latin typeface="Calibri"/>
              </a:rPr>
              <a:t>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93591" y="4599432"/>
            <a:ext cx="10241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1A1C1E"/>
                </a:solidFill>
                <a:latin typeface="Calibri"/>
              </a:rPr>
              <a:t>Maria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93591" y="4864608"/>
            <a:ext cx="10241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51606F"/>
                </a:solidFill>
                <a:latin typeface="Calibri"/>
              </a:rPr>
              <a:t>(62) 97777-4455</a:t>
            </a:r>
          </a:p>
        </p:txBody>
      </p:sp>
      <p:sp>
        <p:nvSpPr>
          <p:cNvPr id="62" name="Oval 61"/>
          <p:cNvSpPr/>
          <p:nvPr/>
        </p:nvSpPr>
        <p:spPr>
          <a:xfrm>
            <a:off x="3026663" y="5257800"/>
            <a:ext cx="438912" cy="438912"/>
          </a:xfrm>
          <a:prstGeom prst="ellipse">
            <a:avLst/>
          </a:prstGeom>
          <a:solidFill>
            <a:srgbClr val="CE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026663" y="5276088"/>
            <a:ext cx="43891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200" b="1">
                <a:solidFill>
                  <a:srgbClr val="001D33"/>
                </a:solidFill>
                <a:latin typeface="Calibri"/>
              </a:rPr>
              <a:t>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93591" y="5239512"/>
            <a:ext cx="10241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1A1C1E"/>
                </a:solidFill>
                <a:latin typeface="Calibri"/>
              </a:rPr>
              <a:t>Pedro Lima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93591" y="5504688"/>
            <a:ext cx="10241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51606F"/>
                </a:solidFill>
                <a:latin typeface="Calibri"/>
              </a:rPr>
              <a:t>(62) 96666-7788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3044952" y="5971032"/>
            <a:ext cx="1591055" cy="0"/>
          </a:xfrm>
          <a:prstGeom prst="line">
            <a:avLst/>
          </a:prstGeom>
          <a:ln w="9525">
            <a:solidFill>
              <a:srgbClr val="CBD9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3063239" y="6044184"/>
            <a:ext cx="5181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800" b="0">
                <a:solidFill>
                  <a:srgbClr val="51606F"/>
                </a:solidFill>
                <a:latin typeface="Calibri"/>
              </a:rPr>
              <a:t>Agenda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581399" y="6044184"/>
            <a:ext cx="5181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00639A"/>
                </a:solidFill>
                <a:latin typeface="Calibri"/>
              </a:rPr>
              <a:t>Clientes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099559" y="6044184"/>
            <a:ext cx="5181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800" b="0">
                <a:solidFill>
                  <a:srgbClr val="51606F"/>
                </a:solidFill>
                <a:latin typeface="Calibri"/>
              </a:rPr>
              <a:t>Serviços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074920" y="1874520"/>
            <a:ext cx="2103120" cy="4572000"/>
          </a:xfrm>
          <a:prstGeom prst="roundRect">
            <a:avLst>
              <a:gd name="adj" fmla="val 6521"/>
            </a:avLst>
          </a:prstGeom>
          <a:solidFill>
            <a:srgbClr val="00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5157216" y="1956816"/>
            <a:ext cx="1938527" cy="440740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5157216" y="1956816"/>
            <a:ext cx="1938527" cy="658368"/>
          </a:xfrm>
          <a:prstGeom prst="roundRect">
            <a:avLst>
              <a:gd name="adj" fmla="val 16666"/>
            </a:avLst>
          </a:prstGeom>
          <a:solidFill>
            <a:srgbClr val="006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157216" y="2377440"/>
            <a:ext cx="1938527" cy="237744"/>
          </a:xfrm>
          <a:prstGeom prst="rect">
            <a:avLst/>
          </a:prstGeom>
          <a:solidFill>
            <a:srgbClr val="006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5852159" y="2057400"/>
            <a:ext cx="548640" cy="118872"/>
          </a:xfrm>
          <a:prstGeom prst="roundRect">
            <a:avLst>
              <a:gd name="adj" fmla="val 25000"/>
            </a:avLst>
          </a:prstGeom>
          <a:solidFill>
            <a:srgbClr val="00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907023" y="2057400"/>
            <a:ext cx="438912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600" b="1">
                <a:solidFill>
                  <a:srgbClr val="001D33"/>
                </a:solidFill>
                <a:latin typeface="Calibri"/>
              </a:rPr>
              <a:t/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312664" y="2148840"/>
            <a:ext cx="16276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Serviços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312664" y="2807208"/>
            <a:ext cx="1627631" cy="640080"/>
          </a:xfrm>
          <a:prstGeom prst="roundRect">
            <a:avLst>
              <a:gd name="adj" fmla="val 7142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440679" y="2880360"/>
            <a:ext cx="14447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1">
                <a:solidFill>
                  <a:srgbClr val="1A1C1E"/>
                </a:solidFill>
                <a:latin typeface="Calibri"/>
              </a:rPr>
              <a:t>Corte feminino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40679" y="3136392"/>
            <a:ext cx="14447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00639A"/>
                </a:solidFill>
                <a:latin typeface="Calibri"/>
              </a:rPr>
              <a:t>45 min  •  R$ 70,00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312664" y="3557016"/>
            <a:ext cx="1627631" cy="640080"/>
          </a:xfrm>
          <a:prstGeom prst="roundRect">
            <a:avLst>
              <a:gd name="adj" fmla="val 7142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440679" y="3630168"/>
            <a:ext cx="14447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1">
                <a:solidFill>
                  <a:srgbClr val="1A1C1E"/>
                </a:solidFill>
                <a:latin typeface="Calibri"/>
              </a:rPr>
              <a:t>barba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40679" y="3886200"/>
            <a:ext cx="14447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00639A"/>
                </a:solidFill>
                <a:latin typeface="Calibri"/>
              </a:rPr>
              <a:t>30 min  •  R$ 35,00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312664" y="4306824"/>
            <a:ext cx="1627631" cy="640080"/>
          </a:xfrm>
          <a:prstGeom prst="roundRect">
            <a:avLst>
              <a:gd name="adj" fmla="val 7142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440679" y="4379976"/>
            <a:ext cx="14447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1">
                <a:solidFill>
                  <a:srgbClr val="1A1C1E"/>
                </a:solidFill>
                <a:latin typeface="Calibri"/>
              </a:rPr>
              <a:t>Coloração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40679" y="4636008"/>
            <a:ext cx="14447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00639A"/>
                </a:solidFill>
                <a:latin typeface="Calibri"/>
              </a:rPr>
              <a:t>90 min  •  R$ 140,00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312664" y="5056632"/>
            <a:ext cx="1627631" cy="640080"/>
          </a:xfrm>
          <a:prstGeom prst="roundRect">
            <a:avLst>
              <a:gd name="adj" fmla="val 7142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440679" y="5129784"/>
            <a:ext cx="14447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1">
                <a:solidFill>
                  <a:srgbClr val="1A1C1E"/>
                </a:solidFill>
                <a:latin typeface="Calibri"/>
              </a:rPr>
              <a:t>Troca de óleo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40679" y="5385816"/>
            <a:ext cx="14447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00639A"/>
                </a:solidFill>
                <a:latin typeface="Calibri"/>
              </a:rPr>
              <a:t>60 min  •  R$ 180,00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5330952" y="5971032"/>
            <a:ext cx="1591055" cy="0"/>
          </a:xfrm>
          <a:prstGeom prst="line">
            <a:avLst/>
          </a:prstGeom>
          <a:ln w="9525">
            <a:solidFill>
              <a:srgbClr val="CBD9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5349240" y="6044184"/>
            <a:ext cx="5181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800" b="0">
                <a:solidFill>
                  <a:srgbClr val="51606F"/>
                </a:solidFill>
                <a:latin typeface="Calibri"/>
              </a:rPr>
              <a:t>Agenda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867399" y="6044184"/>
            <a:ext cx="5181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800" b="0">
                <a:solidFill>
                  <a:srgbClr val="51606F"/>
                </a:solidFill>
                <a:latin typeface="Calibri"/>
              </a:rPr>
              <a:t>Clientes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85559" y="6044184"/>
            <a:ext cx="5181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800" b="0">
                <a:solidFill>
                  <a:srgbClr val="51606F"/>
                </a:solidFill>
                <a:latin typeface="Calibri"/>
              </a:rPr>
              <a:t>Serviços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7452360" y="1874520"/>
            <a:ext cx="4233672" cy="4572000"/>
          </a:xfrm>
          <a:prstGeom prst="roundRect">
            <a:avLst>
              <a:gd name="adj" fmla="val 1511"/>
            </a:avLst>
          </a:prstGeom>
          <a:solidFill>
            <a:srgbClr val="00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726679" y="2121408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Fluxo de uso</a:t>
            </a:r>
          </a:p>
        </p:txBody>
      </p:sp>
      <p:sp>
        <p:nvSpPr>
          <p:cNvPr id="95" name="Oval 94"/>
          <p:cNvSpPr/>
          <p:nvPr/>
        </p:nvSpPr>
        <p:spPr>
          <a:xfrm>
            <a:off x="7726679" y="2697480"/>
            <a:ext cx="402336" cy="402336"/>
          </a:xfrm>
          <a:prstGeom prst="ellipse">
            <a:avLst/>
          </a:prstGeom>
          <a:solidFill>
            <a:srgbClr val="006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726679" y="2706624"/>
            <a:ext cx="402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247888" y="2660904"/>
            <a:ext cx="3246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Cadastrar cliente e serviço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247888" y="2971800"/>
            <a:ext cx="3246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D5E4F6"/>
                </a:solidFill>
                <a:latin typeface="Calibri"/>
              </a:rPr>
              <a:t>Base reutilizável em todos os agendamentos.</a:t>
            </a:r>
          </a:p>
        </p:txBody>
      </p:sp>
      <p:sp>
        <p:nvSpPr>
          <p:cNvPr id="99" name="Oval 98"/>
          <p:cNvSpPr/>
          <p:nvPr/>
        </p:nvSpPr>
        <p:spPr>
          <a:xfrm>
            <a:off x="7726679" y="3447288"/>
            <a:ext cx="402336" cy="402336"/>
          </a:xfrm>
          <a:prstGeom prst="ellipse">
            <a:avLst/>
          </a:prstGeom>
          <a:solidFill>
            <a:srgbClr val="006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726679" y="3456432"/>
            <a:ext cx="402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247888" y="3410712"/>
            <a:ext cx="3246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Escolher data e horário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247888" y="3721608"/>
            <a:ext cx="3246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D5E4F6"/>
                </a:solidFill>
                <a:latin typeface="Calibri"/>
              </a:rPr>
              <a:t>O fim é calculado pela duração do serviço.</a:t>
            </a:r>
          </a:p>
        </p:txBody>
      </p:sp>
      <p:sp>
        <p:nvSpPr>
          <p:cNvPr id="103" name="Oval 102"/>
          <p:cNvSpPr/>
          <p:nvPr/>
        </p:nvSpPr>
        <p:spPr>
          <a:xfrm>
            <a:off x="7726679" y="4197096"/>
            <a:ext cx="402336" cy="402336"/>
          </a:xfrm>
          <a:prstGeom prst="ellipse">
            <a:avLst/>
          </a:prstGeom>
          <a:solidFill>
            <a:srgbClr val="006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726679" y="4206240"/>
            <a:ext cx="402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247888" y="4160520"/>
            <a:ext cx="3246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Validar conflito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247888" y="4471416"/>
            <a:ext cx="3246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D5E4F6"/>
                </a:solidFill>
                <a:latin typeface="Calibri"/>
              </a:rPr>
              <a:t>Sobreposição é bloqueada antes de salvar.</a:t>
            </a:r>
          </a:p>
        </p:txBody>
      </p:sp>
      <p:sp>
        <p:nvSpPr>
          <p:cNvPr id="107" name="Oval 106"/>
          <p:cNvSpPr/>
          <p:nvPr/>
        </p:nvSpPr>
        <p:spPr>
          <a:xfrm>
            <a:off x="7726679" y="4946904"/>
            <a:ext cx="402336" cy="402336"/>
          </a:xfrm>
          <a:prstGeom prst="ellipse">
            <a:avLst/>
          </a:prstGeom>
          <a:solidFill>
            <a:srgbClr val="006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726679" y="4956048"/>
            <a:ext cx="402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247888" y="4910328"/>
            <a:ext cx="3246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Acompanhar a agenda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247888" y="5221224"/>
            <a:ext cx="3246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D5E4F6"/>
                </a:solidFill>
                <a:latin typeface="Calibri"/>
              </a:rPr>
              <a:t>Buscar, filtrar por status e atualizar.</a:t>
            </a:r>
          </a:p>
        </p:txBody>
      </p:sp>
      <p:sp>
        <p:nvSpPr>
          <p:cNvPr id="111" name="Oval 110"/>
          <p:cNvSpPr/>
          <p:nvPr/>
        </p:nvSpPr>
        <p:spPr>
          <a:xfrm>
            <a:off x="7726679" y="5696712"/>
            <a:ext cx="402336" cy="402336"/>
          </a:xfrm>
          <a:prstGeom prst="ellipse">
            <a:avLst/>
          </a:prstGeom>
          <a:solidFill>
            <a:srgbClr val="006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726679" y="5705856"/>
            <a:ext cx="402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247888" y="5660136"/>
            <a:ext cx="3246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Receber o lembrete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247888" y="5971032"/>
            <a:ext cx="3246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D5E4F6"/>
                </a:solidFill>
                <a:latin typeface="Calibri"/>
              </a:rPr>
              <a:t>Notificação 15 min antes do atendimento.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1417320" cy="329184"/>
          </a:xfrm>
          <a:prstGeom prst="roundRect">
            <a:avLst>
              <a:gd name="adj" fmla="val 25000"/>
            </a:avLst>
          </a:prstGeom>
          <a:solidFill>
            <a:srgbClr val="CE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347472"/>
            <a:ext cx="130759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001D33"/>
                </a:solidFill>
                <a:latin typeface="Calibri"/>
              </a:rPr>
              <a:t>TECNOLOGIAS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347472"/>
            <a:ext cx="107899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1100" b="1">
                <a:solidFill>
                  <a:srgbClr val="51606F"/>
                </a:solidFill>
                <a:latin typeface="Calibri"/>
              </a:rPr>
              <a:t>06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6809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800" b="1">
                <a:solidFill>
                  <a:srgbClr val="001D33"/>
                </a:solidFill>
                <a:latin typeface="Calibri"/>
              </a:rPr>
              <a:t>A base técnica do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5331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0">
                <a:solidFill>
                  <a:srgbClr val="51606F"/>
                </a:solidFill>
                <a:latin typeface="Calibri"/>
              </a:rPr>
              <a:t>Android nativo moderno: Kotlin + Jetpack Compose + Room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19072"/>
            <a:ext cx="777240" cy="50292"/>
          </a:xfrm>
          <a:prstGeom prst="roundRect">
            <a:avLst>
              <a:gd name="adj" fmla="val 27272"/>
            </a:avLst>
          </a:prstGeom>
          <a:solidFill>
            <a:srgbClr val="006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51606F"/>
                </a:solidFill>
                <a:latin typeface="Calibri"/>
              </a:rPr>
              <a:t>Grupo 2  •  Agenda de Serviços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510528"/>
            <a:ext cx="3182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51606F"/>
                </a:solidFill>
                <a:latin typeface="Calibri"/>
              </a:rPr>
              <a:t>Trabalho Prático – Desenvolvimento Web / PWA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20240"/>
            <a:ext cx="3474720" cy="166420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920240"/>
            <a:ext cx="91440" cy="1664208"/>
          </a:xfrm>
          <a:prstGeom prst="roundRect">
            <a:avLst>
              <a:gd name="adj" fmla="val 25000"/>
            </a:avLst>
          </a:prstGeom>
          <a:solidFill>
            <a:srgbClr val="006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066544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600" b="1">
                <a:solidFill>
                  <a:srgbClr val="001D33"/>
                </a:solidFill>
                <a:latin typeface="Calibri"/>
              </a:rPr>
              <a:t>Interface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468880"/>
            <a:ext cx="303580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250" b="0">
                <a:solidFill>
                  <a:srgbClr val="1A1C1E"/>
                </a:solidFill>
                <a:latin typeface="Calibri"/>
              </a:rPr>
              <a:t>Kotlin 2.1.10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250" b="0">
                <a:solidFill>
                  <a:srgbClr val="1A1C1E"/>
                </a:solidFill>
                <a:latin typeface="Calibri"/>
              </a:rPr>
              <a:t>Jetpack Compose + Material Design 3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250" b="0">
                <a:solidFill>
                  <a:srgbClr val="1A1C1E"/>
                </a:solidFill>
                <a:latin typeface="Calibri"/>
              </a:rPr>
              <a:t>Navigation Compose (barra inferior)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1920240"/>
            <a:ext cx="3474720" cy="166420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06240" y="1920240"/>
            <a:ext cx="91440" cy="1664208"/>
          </a:xfrm>
          <a:prstGeom prst="roundRect">
            <a:avLst>
              <a:gd name="adj" fmla="val 25000"/>
            </a:avLst>
          </a:prstGeom>
          <a:solidFill>
            <a:srgbClr val="685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59" y="2066544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600" b="1">
                <a:solidFill>
                  <a:srgbClr val="001D33"/>
                </a:solidFill>
                <a:latin typeface="Calibri"/>
              </a:rPr>
              <a:t>Arquitetura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2468880"/>
            <a:ext cx="303580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250" b="0">
                <a:solidFill>
                  <a:srgbClr val="1A1C1E"/>
                </a:solidFill>
                <a:latin typeface="Calibri"/>
              </a:rPr>
              <a:t>MVVM + Repository Pattern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250" b="0">
                <a:solidFill>
                  <a:srgbClr val="1A1C1E"/>
                </a:solidFill>
                <a:latin typeface="Calibri"/>
              </a:rPr>
              <a:t>Coroutines, Flow e StateFlow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250" b="0">
                <a:solidFill>
                  <a:srgbClr val="1A1C1E"/>
                </a:solidFill>
                <a:latin typeface="Calibri"/>
              </a:rPr>
              <a:t>4 ViewModels (1 por tela)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730752"/>
            <a:ext cx="3474720" cy="166420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3730752"/>
            <a:ext cx="91440" cy="1664208"/>
          </a:xfrm>
          <a:prstGeom prst="roundRect">
            <a:avLst>
              <a:gd name="adj" fmla="val 25000"/>
            </a:avLst>
          </a:prstGeom>
          <a:solidFill>
            <a:srgbClr val="006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877056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600" b="1">
                <a:solidFill>
                  <a:srgbClr val="001D33"/>
                </a:solidFill>
                <a:latin typeface="Calibri"/>
              </a:rPr>
              <a:t>Dados offline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279392"/>
            <a:ext cx="303580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250" b="0">
                <a:solidFill>
                  <a:srgbClr val="1A1C1E"/>
                </a:solidFill>
                <a:latin typeface="Calibri"/>
              </a:rPr>
              <a:t>Room 2.8.5 sobre SQLite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250" b="0">
                <a:solidFill>
                  <a:srgbClr val="1A1C1E"/>
                </a:solidFill>
                <a:latin typeface="Calibri"/>
              </a:rPr>
              <a:t>KSP (geração de código do Room)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250" b="0">
                <a:solidFill>
                  <a:srgbClr val="1A1C1E"/>
                </a:solidFill>
                <a:latin typeface="Calibri"/>
              </a:rPr>
              <a:t>Consultas reativas com Flow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06240" y="3730752"/>
            <a:ext cx="3474720" cy="166420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06240" y="3730752"/>
            <a:ext cx="91440" cy="1664208"/>
          </a:xfrm>
          <a:prstGeom prst="roundRect">
            <a:avLst>
              <a:gd name="adj" fmla="val 25000"/>
            </a:avLst>
          </a:prstGeom>
          <a:solidFill>
            <a:srgbClr val="685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59" y="3877056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600" b="1">
                <a:solidFill>
                  <a:srgbClr val="001D33"/>
                </a:solidFill>
                <a:latin typeface="Calibri"/>
              </a:rPr>
              <a:t>Recursos de sistema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59" y="4279392"/>
            <a:ext cx="303580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250" b="0">
                <a:solidFill>
                  <a:srgbClr val="1A1C1E"/>
                </a:solidFill>
                <a:latin typeface="Calibri"/>
              </a:rPr>
              <a:t>AlarmManager + NotificationManager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250" b="0">
                <a:solidFill>
                  <a:srgbClr val="1A1C1E"/>
                </a:solidFill>
                <a:latin typeface="Calibri"/>
              </a:rPr>
              <a:t>BroadcastReceivers (alarme e reinício)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250" b="0">
                <a:solidFill>
                  <a:srgbClr val="1A1C1E"/>
                </a:solidFill>
                <a:latin typeface="Calibri"/>
              </a:rPr>
              <a:t>App Shortcuts no ícone do app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1920240"/>
            <a:ext cx="3593592" cy="3474720"/>
          </a:xfrm>
          <a:prstGeom prst="roundRect">
            <a:avLst>
              <a:gd name="adj" fmla="val 1842"/>
            </a:avLst>
          </a:prstGeom>
          <a:solidFill>
            <a:srgbClr val="EBF4FD"/>
          </a:solidFill>
          <a:ln w="12700">
            <a:solidFill>
              <a:srgbClr val="CE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9327" y="21031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650" b="1">
                <a:solidFill>
                  <a:srgbClr val="001D33"/>
                </a:solidFill>
                <a:latin typeface="Calibri"/>
              </a:rPr>
              <a:t>Por que essas escolhas?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7" y="2578608"/>
            <a:ext cx="3108960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250" b="0">
                <a:solidFill>
                  <a:srgbClr val="1A1C1E"/>
                </a:solidFill>
                <a:latin typeface="Calibri"/>
              </a:rPr>
              <a:t>• UI declarativa acelera a construção das telas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250" b="0">
                <a:solidFill>
                  <a:srgbClr val="1A1C1E"/>
                </a:solidFill>
                <a:latin typeface="Calibri"/>
              </a:rPr>
              <a:t>• Banco local = offline de verdade, sem servidor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250" b="0">
                <a:solidFill>
                  <a:srgbClr val="1A1C1E"/>
                </a:solidFill>
                <a:latin typeface="Calibri"/>
              </a:rPr>
              <a:t>• Estado reativo mantém agenda sempre atual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250" b="0">
                <a:solidFill>
                  <a:srgbClr val="1A1C1E"/>
                </a:solidFill>
                <a:latin typeface="Calibri"/>
              </a:rPr>
              <a:t>• Acesso direto a alarmes e notificações do sistema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39327" y="4709160"/>
            <a:ext cx="3108960" cy="475488"/>
          </a:xfrm>
          <a:prstGeom prst="roundRect">
            <a:avLst>
              <a:gd name="adj" fmla="val 25000"/>
            </a:avLst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94192" y="4709160"/>
            <a:ext cx="299923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100" b="1">
                <a:solidFill>
                  <a:srgbClr val="E65100"/>
                </a:solidFill>
                <a:latin typeface="Calibri"/>
              </a:rPr>
              <a:t>Android nativo ≠ PWA web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1417320" cy="329184"/>
          </a:xfrm>
          <a:prstGeom prst="roundRect">
            <a:avLst>
              <a:gd name="adj" fmla="val 25000"/>
            </a:avLst>
          </a:prstGeom>
          <a:solidFill>
            <a:srgbClr val="CE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347472"/>
            <a:ext cx="130759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001D33"/>
                </a:solidFill>
                <a:latin typeface="Calibri"/>
              </a:rPr>
              <a:t>TECNOLOGIAS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347472"/>
            <a:ext cx="107899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1100" b="1">
                <a:solidFill>
                  <a:srgbClr val="51606F"/>
                </a:solidFill>
                <a:latin typeface="Calibri"/>
              </a:rPr>
              <a:t>07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6809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800" b="1">
                <a:solidFill>
                  <a:srgbClr val="001D33"/>
                </a:solidFill>
                <a:latin typeface="Calibri"/>
              </a:rPr>
              <a:t>Arquitetura MVVM e dados offline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5331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0">
                <a:solidFill>
                  <a:srgbClr val="51606F"/>
                </a:solidFill>
                <a:latin typeface="Calibri"/>
              </a:rPr>
              <a:t>Separação de responsabilidades do clique até o banco SQLite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19072"/>
            <a:ext cx="777240" cy="50292"/>
          </a:xfrm>
          <a:prstGeom prst="roundRect">
            <a:avLst>
              <a:gd name="adj" fmla="val 27272"/>
            </a:avLst>
          </a:prstGeom>
          <a:solidFill>
            <a:srgbClr val="006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51606F"/>
                </a:solidFill>
                <a:latin typeface="Calibri"/>
              </a:rPr>
              <a:t>Grupo 2  •  Agenda de Serviços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510528"/>
            <a:ext cx="3182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51606F"/>
                </a:solidFill>
                <a:latin typeface="Calibri"/>
              </a:rPr>
              <a:t>Trabalho Prático – Desenvolvimento Web / PWA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20240"/>
            <a:ext cx="2084831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2066544"/>
            <a:ext cx="179222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450" b="1">
                <a:solidFill>
                  <a:srgbClr val="001D33"/>
                </a:solidFill>
                <a:latin typeface="Calibri"/>
              </a:rPr>
              <a:t>Telas Compose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2487168"/>
            <a:ext cx="179222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200"/>
              </a:spcAft>
            </a:pPr>
            <a:r>
              <a:rPr sz="1150" b="0">
                <a:solidFill>
                  <a:srgbClr val="51606F"/>
                </a:solidFill>
                <a:latin typeface="Calibri"/>
              </a:rPr>
              <a:t>Agenda • Clientes</a:t>
            </a:r>
          </a:p>
          <a:p>
            <a:pPr algn="ctr">
              <a:lnSpc>
                <a:spcPct val="118000"/>
              </a:lnSpc>
              <a:spcAft>
                <a:spcPts val="200"/>
              </a:spcAft>
            </a:pPr>
            <a:r>
              <a:rPr sz="1150" b="0">
                <a:solidFill>
                  <a:srgbClr val="51606F"/>
                </a:solidFill>
                <a:latin typeface="Calibri"/>
              </a:rPr>
              <a:t>Serviços • Formulário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6040" y="2615184"/>
            <a:ext cx="36576" cy="0"/>
          </a:xfrm>
          <a:prstGeom prst="line">
            <a:avLst/>
          </a:prstGeom>
          <a:ln w="25400">
            <a:solidFill>
              <a:srgbClr val="0063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2596896" y="2532888"/>
            <a:ext cx="164592" cy="164592"/>
          </a:xfrm>
          <a:prstGeom prst="triangle">
            <a:avLst/>
          </a:prstGeom>
          <a:solidFill>
            <a:srgbClr val="006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79776" y="1920240"/>
            <a:ext cx="2084831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0" y="2066544"/>
            <a:ext cx="179222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450" b="1">
                <a:solidFill>
                  <a:srgbClr val="001D33"/>
                </a:solidFill>
                <a:latin typeface="Calibri"/>
              </a:rPr>
              <a:t>ViewModels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487168"/>
            <a:ext cx="179222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200"/>
              </a:spcAft>
            </a:pPr>
            <a:r>
              <a:rPr sz="1150" b="0">
                <a:solidFill>
                  <a:srgbClr val="51606F"/>
                </a:solidFill>
                <a:latin typeface="Calibri"/>
              </a:rPr>
              <a:t>Estado com StateFlow</a:t>
            </a:r>
          </a:p>
          <a:p>
            <a:pPr algn="ctr">
              <a:lnSpc>
                <a:spcPct val="118000"/>
              </a:lnSpc>
              <a:spcAft>
                <a:spcPts val="200"/>
              </a:spcAft>
            </a:pPr>
            <a:r>
              <a:rPr sz="1150" b="0">
                <a:solidFill>
                  <a:srgbClr val="51606F"/>
                </a:solidFill>
                <a:latin typeface="Calibri"/>
              </a:rPr>
              <a:t>Validações da tela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82896" y="2615184"/>
            <a:ext cx="36576" cy="0"/>
          </a:xfrm>
          <a:prstGeom prst="line">
            <a:avLst/>
          </a:prstGeom>
          <a:ln w="25400">
            <a:solidFill>
              <a:srgbClr val="0063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4873752" y="2532888"/>
            <a:ext cx="164592" cy="164592"/>
          </a:xfrm>
          <a:prstGeom prst="triangle">
            <a:avLst/>
          </a:prstGeom>
          <a:solidFill>
            <a:srgbClr val="006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56631" y="1920240"/>
            <a:ext cx="2084831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02936" y="2066544"/>
            <a:ext cx="179222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450" b="1">
                <a:solidFill>
                  <a:srgbClr val="001D33"/>
                </a:solidFill>
                <a:latin typeface="Calibri"/>
              </a:rPr>
              <a:t>Repositories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2936" y="2487168"/>
            <a:ext cx="179222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200"/>
              </a:spcAft>
            </a:pPr>
            <a:r>
              <a:rPr sz="1150" b="0">
                <a:solidFill>
                  <a:srgbClr val="51606F"/>
                </a:solidFill>
                <a:latin typeface="Calibri"/>
              </a:rPr>
              <a:t>Regras de acesso</a:t>
            </a:r>
          </a:p>
          <a:p>
            <a:pPr algn="ctr">
              <a:lnSpc>
                <a:spcPct val="118000"/>
              </a:lnSpc>
              <a:spcAft>
                <a:spcPts val="200"/>
              </a:spcAft>
            </a:pPr>
            <a:r>
              <a:rPr sz="1150" b="0">
                <a:solidFill>
                  <a:srgbClr val="51606F"/>
                </a:solidFill>
                <a:latin typeface="Calibri"/>
              </a:rPr>
              <a:t>aos dados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59751" y="2615184"/>
            <a:ext cx="36576" cy="0"/>
          </a:xfrm>
          <a:prstGeom prst="line">
            <a:avLst/>
          </a:prstGeom>
          <a:ln w="25400">
            <a:solidFill>
              <a:srgbClr val="0063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5400000">
            <a:off x="7150607" y="2532888"/>
            <a:ext cx="164592" cy="164592"/>
          </a:xfrm>
          <a:prstGeom prst="triangle">
            <a:avLst/>
          </a:prstGeom>
          <a:solidFill>
            <a:srgbClr val="006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33488" y="1920240"/>
            <a:ext cx="2084831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79792" y="2066544"/>
            <a:ext cx="179222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450" b="1">
                <a:solidFill>
                  <a:srgbClr val="001D33"/>
                </a:solidFill>
                <a:latin typeface="Calibri"/>
              </a:rPr>
              <a:t>DAOs Room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9792" y="2487168"/>
            <a:ext cx="179222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200"/>
              </a:spcAft>
            </a:pPr>
            <a:r>
              <a:rPr sz="1150" b="0">
                <a:solidFill>
                  <a:srgbClr val="51606F"/>
                </a:solidFill>
                <a:latin typeface="Calibri"/>
              </a:rPr>
              <a:t>Consultas SQL</a:t>
            </a:r>
          </a:p>
          <a:p>
            <a:pPr algn="ctr">
              <a:lnSpc>
                <a:spcPct val="118000"/>
              </a:lnSpc>
              <a:spcAft>
                <a:spcPts val="200"/>
              </a:spcAft>
            </a:pPr>
            <a:r>
              <a:rPr sz="1150" b="0">
                <a:solidFill>
                  <a:srgbClr val="51606F"/>
                </a:solidFill>
                <a:latin typeface="Calibri"/>
              </a:rPr>
              <a:t>Cliente • Serviço • Agenda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36607" y="2615184"/>
            <a:ext cx="36576" cy="0"/>
          </a:xfrm>
          <a:prstGeom prst="line">
            <a:avLst/>
          </a:prstGeom>
          <a:ln w="25400">
            <a:solidFill>
              <a:srgbClr val="0063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9427463" y="2532888"/>
            <a:ext cx="164592" cy="164592"/>
          </a:xfrm>
          <a:prstGeom prst="triangle">
            <a:avLst/>
          </a:prstGeom>
          <a:solidFill>
            <a:srgbClr val="006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10344" y="1920240"/>
            <a:ext cx="2084831" cy="1389888"/>
          </a:xfrm>
          <a:prstGeom prst="roundRect">
            <a:avLst>
              <a:gd name="adj" fmla="val 4605"/>
            </a:avLst>
          </a:prstGeom>
          <a:solidFill>
            <a:srgbClr val="00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56648" y="2066544"/>
            <a:ext cx="179222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SQLite (Room)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6648" y="2487168"/>
            <a:ext cx="179222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200"/>
              </a:spcAft>
            </a:pPr>
            <a:r>
              <a:rPr sz="1150" b="0">
                <a:solidFill>
                  <a:srgbClr val="D5E4F6"/>
                </a:solidFill>
                <a:latin typeface="Calibri"/>
              </a:rPr>
              <a:t>Banco local no aparelho</a:t>
            </a:r>
          </a:p>
          <a:p>
            <a:pPr algn="ctr">
              <a:lnSpc>
                <a:spcPct val="118000"/>
              </a:lnSpc>
              <a:spcAft>
                <a:spcPts val="200"/>
              </a:spcAft>
            </a:pPr>
            <a:r>
              <a:rPr sz="1150" b="0">
                <a:solidFill>
                  <a:srgbClr val="D5E4F6"/>
                </a:solidFill>
                <a:latin typeface="Calibri"/>
              </a:rPr>
              <a:t>100% offline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3611880"/>
            <a:ext cx="5897880" cy="251460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952" y="3794760"/>
            <a:ext cx="5394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600" b="1">
                <a:solidFill>
                  <a:srgbClr val="001D33"/>
                </a:solidFill>
                <a:latin typeface="Calibri"/>
              </a:rPr>
              <a:t>Modelo de dados (3 entidades)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" y="4233672"/>
            <a:ext cx="544068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50" b="0">
                <a:solidFill>
                  <a:srgbClr val="1A1C1E"/>
                </a:solidFill>
                <a:latin typeface="Calibri"/>
              </a:rPr>
              <a:t>Cliente — nome e telefone/WhatsApp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50" b="0">
                <a:solidFill>
                  <a:srgbClr val="1A1C1E"/>
                </a:solidFill>
                <a:latin typeface="Calibri"/>
              </a:rPr>
              <a:t>Serviço — nome, preço (R$) e duração (min)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50" b="0">
                <a:solidFill>
                  <a:srgbClr val="1A1C1E"/>
                </a:solidFill>
                <a:latin typeface="Calibri"/>
              </a:rPr>
              <a:t>Agendamento — cliente + serviço (chaves estrangeiras), início, fim, status e observações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50" b="0">
                <a:solidFill>
                  <a:srgbClr val="1A1C1E"/>
                </a:solidFill>
                <a:latin typeface="Calibri"/>
              </a:rPr>
              <a:t/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50" b="0">
                <a:solidFill>
                  <a:srgbClr val="1A1C1E"/>
                </a:solidFill>
                <a:latin typeface="Calibri"/>
              </a:rPr>
              <a:t>Exclusão em cascata e índices mantêm o banco íntegro e rápido.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29400" y="3611880"/>
            <a:ext cx="5056632" cy="2514600"/>
          </a:xfrm>
          <a:prstGeom prst="roundRect">
            <a:avLst>
              <a:gd name="adj" fmla="val 2545"/>
            </a:avLst>
          </a:prstGeom>
          <a:solidFill>
            <a:srgbClr val="00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85432" y="3794760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A regra que evita conflito (SQL no Room)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85432" y="425196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00" b="1">
                <a:solidFill>
                  <a:srgbClr val="CEE5FF"/>
                </a:solidFill>
                <a:latin typeface="Consolas"/>
              </a:rPr>
              <a:t>novoInício &lt; fimExistente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00" b="1">
                <a:solidFill>
                  <a:srgbClr val="CEE5FF"/>
                </a:solidFill>
                <a:latin typeface="Consolas"/>
              </a:rPr>
              <a:t>AND novoFim &gt; inícioExistente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85432" y="5120640"/>
            <a:ext cx="45720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D5E4F6"/>
                </a:solidFill>
                <a:latin typeface="Calibri"/>
              </a:rPr>
              <a:t>Ignora agendamentos CANCELADOS e o próprio registro quando ele está sendo editado.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1417320" cy="329184"/>
          </a:xfrm>
          <a:prstGeom prst="roundRect">
            <a:avLst>
              <a:gd name="adj" fmla="val 25000"/>
            </a:avLst>
          </a:prstGeom>
          <a:solidFill>
            <a:srgbClr val="CE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347472"/>
            <a:ext cx="130759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001D33"/>
                </a:solidFill>
                <a:latin typeface="Calibri"/>
              </a:rPr>
              <a:t>PROCESSO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347472"/>
            <a:ext cx="107899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1100" b="1">
                <a:solidFill>
                  <a:srgbClr val="51606F"/>
                </a:solidFill>
                <a:latin typeface="Calibri"/>
              </a:rPr>
              <a:t>08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6809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800" b="1">
                <a:solidFill>
                  <a:srgbClr val="001D33"/>
                </a:solidFill>
                <a:latin typeface="Calibri"/>
              </a:rPr>
              <a:t>A evolução em 4 etapas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5331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0">
                <a:solidFill>
                  <a:srgbClr val="51606F"/>
                </a:solidFill>
                <a:latin typeface="Calibri"/>
              </a:rPr>
              <a:t>Cada etapa deixou o app utilizável antes de partir para a próxima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19072"/>
            <a:ext cx="777240" cy="50292"/>
          </a:xfrm>
          <a:prstGeom prst="roundRect">
            <a:avLst>
              <a:gd name="adj" fmla="val 27272"/>
            </a:avLst>
          </a:prstGeom>
          <a:solidFill>
            <a:srgbClr val="006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51606F"/>
                </a:solidFill>
                <a:latin typeface="Calibri"/>
              </a:rPr>
              <a:t>Grupo 2  •  Agenda de Serviços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510528"/>
            <a:ext cx="3182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51606F"/>
                </a:solidFill>
                <a:latin typeface="Calibri"/>
              </a:rPr>
              <a:t>Trabalho Prático – Desenvolvimento Web / PWA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8680" y="2304288"/>
            <a:ext cx="10515600" cy="0"/>
          </a:xfrm>
          <a:prstGeom prst="line">
            <a:avLst/>
          </a:prstGeom>
          <a:ln w="38100">
            <a:solidFill>
              <a:srgbClr val="CEE5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600200" y="2048256"/>
            <a:ext cx="512064" cy="512064"/>
          </a:xfrm>
          <a:prstGeom prst="ellipse">
            <a:avLst/>
          </a:prstGeom>
          <a:solidFill>
            <a:srgbClr val="006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00200" y="2057400"/>
            <a:ext cx="51206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761488"/>
            <a:ext cx="2706624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2962656"/>
            <a:ext cx="23042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>
                <a:solidFill>
                  <a:srgbClr val="001D33"/>
                </a:solidFill>
                <a:latin typeface="Calibri"/>
              </a:rPr>
              <a:t>Interface e navegação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3566160"/>
            <a:ext cx="2304288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51606F"/>
                </a:solidFill>
                <a:latin typeface="Calibri"/>
              </a:rPr>
              <a:t>Design system em Jetpack Compose (Material 3) e navegação entre Agenda, Clientes e Serviços.</a:t>
            </a:r>
          </a:p>
        </p:txBody>
      </p:sp>
      <p:sp>
        <p:nvSpPr>
          <p:cNvPr id="17" name="Oval 16"/>
          <p:cNvSpPr/>
          <p:nvPr/>
        </p:nvSpPr>
        <p:spPr>
          <a:xfrm>
            <a:off x="4462272" y="2048256"/>
            <a:ext cx="512064" cy="512064"/>
          </a:xfrm>
          <a:prstGeom prst="ellipse">
            <a:avLst/>
          </a:prstGeom>
          <a:solidFill>
            <a:srgbClr val="006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62272" y="2057400"/>
            <a:ext cx="51206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64991" y="2761488"/>
            <a:ext cx="2706624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2962656"/>
            <a:ext cx="23042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>
                <a:solidFill>
                  <a:srgbClr val="001D33"/>
                </a:solidFill>
                <a:latin typeface="Calibri"/>
              </a:rPr>
              <a:t>Clientes e serviços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566160"/>
            <a:ext cx="2304288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51606F"/>
                </a:solidFill>
                <a:latin typeface="Calibri"/>
              </a:rPr>
              <a:t>Cadastros completos (CRUD) com persistência no Room Database.</a:t>
            </a:r>
          </a:p>
        </p:txBody>
      </p:sp>
      <p:sp>
        <p:nvSpPr>
          <p:cNvPr id="22" name="Oval 21"/>
          <p:cNvSpPr/>
          <p:nvPr/>
        </p:nvSpPr>
        <p:spPr>
          <a:xfrm>
            <a:off x="7324344" y="2048256"/>
            <a:ext cx="512064" cy="512064"/>
          </a:xfrm>
          <a:prstGeom prst="ellipse">
            <a:avLst/>
          </a:prstGeom>
          <a:solidFill>
            <a:srgbClr val="685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4344" y="2057400"/>
            <a:ext cx="51206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27064" y="2761488"/>
            <a:ext cx="2706624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8231" y="2962656"/>
            <a:ext cx="23042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>
                <a:solidFill>
                  <a:srgbClr val="001D33"/>
                </a:solidFill>
                <a:latin typeface="Calibri"/>
              </a:rPr>
              <a:t>Agendamentos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1" y="3566160"/>
            <a:ext cx="2304288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51606F"/>
                </a:solidFill>
                <a:latin typeface="Calibri"/>
              </a:rPr>
              <a:t>Calendário/data e hora, cálculo de fim pela duração e verificação de conflito.</a:t>
            </a:r>
          </a:p>
        </p:txBody>
      </p:sp>
      <p:sp>
        <p:nvSpPr>
          <p:cNvPr id="27" name="Oval 26"/>
          <p:cNvSpPr/>
          <p:nvPr/>
        </p:nvSpPr>
        <p:spPr>
          <a:xfrm>
            <a:off x="10186416" y="2048256"/>
            <a:ext cx="512064" cy="512064"/>
          </a:xfrm>
          <a:prstGeom prst="ellipse">
            <a:avLst/>
          </a:prstGeom>
          <a:solidFill>
            <a:srgbClr val="685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86416" y="2057400"/>
            <a:ext cx="51206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89136" y="2761488"/>
            <a:ext cx="2706624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90304" y="2962656"/>
            <a:ext cx="23042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>
                <a:solidFill>
                  <a:srgbClr val="001D33"/>
                </a:solidFill>
                <a:latin typeface="Calibri"/>
              </a:rPr>
              <a:t>Lembretes e acabamento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0304" y="3566160"/>
            <a:ext cx="2304288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51606F"/>
                </a:solidFill>
                <a:latin typeface="Calibri"/>
              </a:rPr>
              <a:t>Notificações locais, atalhos do ícone do app e documentação (README).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349240"/>
            <a:ext cx="11183112" cy="777240"/>
          </a:xfrm>
          <a:prstGeom prst="roundRect">
            <a:avLst>
              <a:gd name="adj" fmla="val 8235"/>
            </a:avLst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349240"/>
            <a:ext cx="106527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964200"/>
                </a:solidFill>
                <a:latin typeface="Calibri"/>
              </a:rPr>
              <a:t>Registro de transparência: no GitHub, essas etapas estão hoje consolidadas em um envio principal — melhorar a granularidade dos commits entrou para a nossa lista de correções.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1417320" cy="329184"/>
          </a:xfrm>
          <a:prstGeom prst="roundRect">
            <a:avLst>
              <a:gd name="adj" fmla="val 25000"/>
            </a:avLst>
          </a:prstGeom>
          <a:solidFill>
            <a:srgbClr val="CE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347472"/>
            <a:ext cx="130759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001D33"/>
                </a:solidFill>
                <a:latin typeface="Calibri"/>
              </a:rPr>
              <a:t>DESAFIOS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347472"/>
            <a:ext cx="107899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1100" b="1">
                <a:solidFill>
                  <a:srgbClr val="51606F"/>
                </a:solidFill>
                <a:latin typeface="Calibri"/>
              </a:rPr>
              <a:t>09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6809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800" b="1">
                <a:solidFill>
                  <a:srgbClr val="001D33"/>
                </a:solidFill>
                <a:latin typeface="Calibri"/>
              </a:rPr>
              <a:t>Os 3 principais desafios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5331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0">
                <a:solidFill>
                  <a:srgbClr val="51606F"/>
                </a:solidFill>
                <a:latin typeface="Calibri"/>
              </a:rPr>
              <a:t>O que travou, como enfrentamos e o que ficou diagnosticado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19072"/>
            <a:ext cx="777240" cy="50292"/>
          </a:xfrm>
          <a:prstGeom prst="roundRect">
            <a:avLst>
              <a:gd name="adj" fmla="val 27272"/>
            </a:avLst>
          </a:prstGeom>
          <a:solidFill>
            <a:srgbClr val="006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51606F"/>
                </a:solidFill>
                <a:latin typeface="Calibri"/>
              </a:rPr>
              <a:t>Grupo 2  •  Agenda de Serviços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510528"/>
            <a:ext cx="3182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51606F"/>
                </a:solidFill>
                <a:latin typeface="Calibri"/>
              </a:rPr>
              <a:t>Trabalho Prático – Desenvolvimento Web / PWA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20240"/>
            <a:ext cx="3584448" cy="4160520"/>
          </a:xfrm>
          <a:prstGeom prst="roundRect">
            <a:avLst>
              <a:gd name="adj" fmla="val 1785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920240"/>
            <a:ext cx="3584448" cy="91440"/>
          </a:xfrm>
          <a:prstGeom prst="roundRect">
            <a:avLst>
              <a:gd name="adj" fmla="val 25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0664" y="2194560"/>
            <a:ext cx="475488" cy="47548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203703"/>
            <a:ext cx="475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176272"/>
            <a:ext cx="2560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50" b="1">
                <a:solidFill>
                  <a:srgbClr val="001D33"/>
                </a:solidFill>
                <a:latin typeface="Calibri"/>
              </a:rPr>
              <a:t>Impedir sobreposição de horários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" y="303580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1">
                <a:solidFill>
                  <a:srgbClr val="C62828"/>
                </a:solidFill>
                <a:latin typeface="Calibri"/>
              </a:rPr>
              <a:t>O problema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3310128"/>
            <a:ext cx="310896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1A1C1E"/>
                </a:solidFill>
                <a:latin typeface="Calibri"/>
              </a:rPr>
              <a:t>Serviços têm durações diferentes: comparar só o início deixa conflitos passarem.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0664" y="4462272"/>
            <a:ext cx="3108960" cy="0"/>
          </a:xfrm>
          <a:prstGeom prst="line">
            <a:avLst/>
          </a:prstGeom>
          <a:ln w="12700">
            <a:solidFill>
              <a:srgbClr val="CBD9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40664" y="45720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1">
                <a:solidFill>
                  <a:srgbClr val="00639A"/>
                </a:solidFill>
                <a:latin typeface="Calibri"/>
              </a:rPr>
              <a:t>Nossa resposta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" y="4846320"/>
            <a:ext cx="31089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51606F"/>
                </a:solidFill>
                <a:latin typeface="Calibri"/>
              </a:rPr>
              <a:t>Guardamos início e fim de cada atendimento e testamos a sobreposição de intervalos no SQL, ignorando cancelados.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5112" y="1920240"/>
            <a:ext cx="3584448" cy="4160520"/>
          </a:xfrm>
          <a:prstGeom prst="roundRect">
            <a:avLst>
              <a:gd name="adj" fmla="val 1785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25112" y="1920240"/>
            <a:ext cx="3584448" cy="91440"/>
          </a:xfrm>
          <a:prstGeom prst="roundRect">
            <a:avLst>
              <a:gd name="adj" fmla="val 25000"/>
            </a:avLst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62855" y="2194560"/>
            <a:ext cx="475488" cy="475488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62855" y="2203703"/>
            <a:ext cx="475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59" y="2176272"/>
            <a:ext cx="2560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50" b="1">
                <a:solidFill>
                  <a:srgbClr val="001D33"/>
                </a:solidFill>
                <a:latin typeface="Calibri"/>
              </a:rPr>
              <a:t>Lembrar mesmo com o app fechado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5" y="303580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1">
                <a:solidFill>
                  <a:srgbClr val="E65100"/>
                </a:solidFill>
                <a:latin typeface="Calibri"/>
              </a:rPr>
              <a:t>O problema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5" y="3310128"/>
            <a:ext cx="310896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1A1C1E"/>
                </a:solidFill>
                <a:latin typeface="Calibri"/>
              </a:rPr>
              <a:t>Android restringe alarmes exatos (12+) e exige permissão de notificação (13+); reiniciar o celular apaga alarmes.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562855" y="4462272"/>
            <a:ext cx="3108961" cy="0"/>
          </a:xfrm>
          <a:prstGeom prst="line">
            <a:avLst/>
          </a:prstGeom>
          <a:ln w="12700">
            <a:solidFill>
              <a:srgbClr val="CBD9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562855" y="45720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1">
                <a:solidFill>
                  <a:srgbClr val="00639A"/>
                </a:solidFill>
                <a:latin typeface="Calibri"/>
              </a:rPr>
              <a:t>Nossa resposta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62855" y="4846320"/>
            <a:ext cx="31089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51606F"/>
                </a:solidFill>
                <a:latin typeface="Calibri"/>
              </a:rPr>
              <a:t>AlarmManager 15 min antes com fallback quando não há permissão de exato + BootReceiver para reagendar após reiniciar.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47304" y="1920240"/>
            <a:ext cx="3584448" cy="4160520"/>
          </a:xfrm>
          <a:prstGeom prst="roundRect">
            <a:avLst>
              <a:gd name="adj" fmla="val 1785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147304" y="1920240"/>
            <a:ext cx="3584448" cy="91440"/>
          </a:xfrm>
          <a:prstGeom prst="roundRect">
            <a:avLst>
              <a:gd name="adj" fmla="val 25000"/>
            </a:avLst>
          </a:prstGeom>
          <a:solidFill>
            <a:srgbClr val="685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85048" y="2194560"/>
            <a:ext cx="475488" cy="475488"/>
          </a:xfrm>
          <a:prstGeom prst="ellipse">
            <a:avLst/>
          </a:prstGeom>
          <a:solidFill>
            <a:srgbClr val="685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85048" y="2203703"/>
            <a:ext cx="475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88552" y="2176272"/>
            <a:ext cx="2560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50" b="1">
                <a:solidFill>
                  <a:srgbClr val="001D33"/>
                </a:solidFill>
                <a:latin typeface="Calibri"/>
              </a:rPr>
              <a:t>Fazer rodar fora da máquina de origem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5048" y="303580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1">
                <a:solidFill>
                  <a:srgbClr val="68587A"/>
                </a:solidFill>
                <a:latin typeface="Calibri"/>
              </a:rPr>
              <a:t>O problema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5048" y="3310128"/>
            <a:ext cx="310896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1A1C1E"/>
                </a:solidFill>
                <a:latin typeface="Calibri"/>
              </a:rPr>
              <a:t>Diagnóstico: local.properties apontando para C:\Users\CLIENTE\... foi versionado; .gitignore não era de Android; SDK 37/JDK 25 são exigências recentes.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385048" y="4462272"/>
            <a:ext cx="3108960" cy="0"/>
          </a:xfrm>
          <a:prstGeom prst="line">
            <a:avLst/>
          </a:prstGeom>
          <a:ln w="12700">
            <a:solidFill>
              <a:srgbClr val="CBD9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385048" y="45720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1">
                <a:solidFill>
                  <a:srgbClr val="00639A"/>
                </a:solidFill>
                <a:latin typeface="Calibri"/>
              </a:rPr>
              <a:t>Nossa resposta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5048" y="4846320"/>
            <a:ext cx="31089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51606F"/>
                </a:solidFill>
                <a:latin typeface="Calibri"/>
              </a:rPr>
              <a:t>Correção planejada: .gitignore de Android, remover arquivos locais/build do Git e testar a partir de um clone limpo (slide 12).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1417320" cy="329184"/>
          </a:xfrm>
          <a:prstGeom prst="roundRect">
            <a:avLst>
              <a:gd name="adj" fmla="val 25000"/>
            </a:avLst>
          </a:prstGeom>
          <a:solidFill>
            <a:srgbClr val="CE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347472"/>
            <a:ext cx="130759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001D33"/>
                </a:solidFill>
                <a:latin typeface="Calibri"/>
              </a:rPr>
              <a:t>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347472"/>
            <a:ext cx="107899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1100" b="1">
                <a:solidFill>
                  <a:srgbClr val="51606F"/>
                </a:solidFill>
                <a:latin typeface="Calibri"/>
              </a:rPr>
              <a:t>10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6809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800" b="1">
                <a:solidFill>
                  <a:srgbClr val="001D33"/>
                </a:solidFill>
                <a:latin typeface="Calibri"/>
              </a:rPr>
              <a:t>O que funcionou bem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5331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0">
                <a:solidFill>
                  <a:srgbClr val="51606F"/>
                </a:solidFill>
                <a:latin typeface="Calibri"/>
              </a:rPr>
              <a:t>Resultados que conseguimos Demonstrar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19072"/>
            <a:ext cx="777240" cy="50292"/>
          </a:xfrm>
          <a:prstGeom prst="roundRect">
            <a:avLst>
              <a:gd name="adj" fmla="val 27272"/>
            </a:avLst>
          </a:prstGeom>
          <a:solidFill>
            <a:srgbClr val="006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51606F"/>
                </a:solidFill>
                <a:latin typeface="Calibri"/>
              </a:rPr>
              <a:t>Grupo 2  •  Agenda de Serviços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510528"/>
            <a:ext cx="3182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51606F"/>
                </a:solidFill>
                <a:latin typeface="Calibri"/>
              </a:rPr>
              <a:t>Trabalho Prático – Desenvolvimento Web / PWA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20240"/>
            <a:ext cx="690372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13232" y="2075688"/>
            <a:ext cx="347472" cy="347472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084832"/>
            <a:ext cx="34747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192024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>
                <a:solidFill>
                  <a:srgbClr val="1A1C1E"/>
                </a:solidFill>
                <a:latin typeface="Calibri"/>
              </a:rPr>
              <a:t>Cadastros de clientes e serviços completos, salvos offline no aparelho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670048"/>
            <a:ext cx="690372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2825496"/>
            <a:ext cx="347472" cy="347472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834640"/>
            <a:ext cx="34747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2670048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>
                <a:solidFill>
                  <a:srgbClr val="1A1C1E"/>
                </a:solidFill>
                <a:latin typeface="Calibri"/>
              </a:rPr>
              <a:t>Agenda reativa: salvou/alterou, a lista atualiza na hora (Flow/StateFlow)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419856"/>
            <a:ext cx="690372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13232" y="3575303"/>
            <a:ext cx="347472" cy="347472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584448"/>
            <a:ext cx="34747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3419856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>
                <a:solidFill>
                  <a:srgbClr val="1A1C1E"/>
                </a:solidFill>
                <a:latin typeface="Calibri"/>
              </a:rPr>
              <a:t>Conflito de horário bloqueado antes de salvar — sem dupla reserva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169663"/>
            <a:ext cx="690372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3232" y="4325112"/>
            <a:ext cx="347472" cy="347472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4334255"/>
            <a:ext cx="34747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7008" y="4169663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>
                <a:solidFill>
                  <a:srgbClr val="1A1C1E"/>
                </a:solidFill>
                <a:latin typeface="Calibri"/>
              </a:rPr>
              <a:t>Busca em tempo real e filtros por status do atendimento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919472"/>
            <a:ext cx="690372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13232" y="5074920"/>
            <a:ext cx="347472" cy="347472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5084064"/>
            <a:ext cx="34747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07008" y="4919472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>
                <a:solidFill>
                  <a:srgbClr val="1A1C1E"/>
                </a:solidFill>
                <a:latin typeface="Calibri"/>
              </a:rPr>
              <a:t>Lembrete automático 15 min antes, inclusive após reiniciar o celular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669280"/>
            <a:ext cx="690372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13232" y="5824728"/>
            <a:ext cx="347472" cy="347472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5833872"/>
            <a:ext cx="34747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07008" y="566928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>
                <a:solidFill>
                  <a:srgbClr val="1A1C1E"/>
                </a:solidFill>
                <a:latin typeface="Calibri"/>
              </a:rPr>
              <a:t>Atalhos ao pressionar o ícone do app (App Shortcuts)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80960" y="1920240"/>
            <a:ext cx="1901952" cy="1371600"/>
          </a:xfrm>
          <a:prstGeom prst="roundRect">
            <a:avLst>
              <a:gd name="adj" fmla="val 4666"/>
            </a:avLst>
          </a:prstGeom>
          <a:solidFill>
            <a:srgbClr val="00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18120" y="2066544"/>
            <a:ext cx="16276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20" y="2651760"/>
            <a:ext cx="16276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D5E4F6"/>
                </a:solidFill>
                <a:latin typeface="Calibri"/>
              </a:rPr>
              <a:t>telas principais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710928" y="1920240"/>
            <a:ext cx="1901952" cy="1371600"/>
          </a:xfrm>
          <a:prstGeom prst="roundRect">
            <a:avLst>
              <a:gd name="adj" fmla="val 4666"/>
            </a:avLst>
          </a:prstGeom>
          <a:solidFill>
            <a:srgbClr val="006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48088" y="2066544"/>
            <a:ext cx="16276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48088" y="2651760"/>
            <a:ext cx="16276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D5E4F6"/>
                </a:solidFill>
                <a:latin typeface="Calibri"/>
              </a:rPr>
              <a:t>entidades no banco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680960" y="3429000"/>
            <a:ext cx="1901952" cy="1371600"/>
          </a:xfrm>
          <a:prstGeom prst="roundRect">
            <a:avLst>
              <a:gd name="adj" fmla="val 4666"/>
            </a:avLst>
          </a:prstGeom>
          <a:solidFill>
            <a:srgbClr val="00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18120" y="3575304"/>
            <a:ext cx="16276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18120" y="4160520"/>
            <a:ext cx="16276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D5E4F6"/>
                </a:solidFill>
                <a:latin typeface="Calibri"/>
              </a:rPr>
              <a:t>status de atendimento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710928" y="3429000"/>
            <a:ext cx="1901952" cy="1371600"/>
          </a:xfrm>
          <a:prstGeom prst="roundRect">
            <a:avLst>
              <a:gd name="adj" fmla="val 4666"/>
            </a:avLst>
          </a:prstGeom>
          <a:solidFill>
            <a:srgbClr val="006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48088" y="3575304"/>
            <a:ext cx="16276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15 min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48088" y="4160520"/>
            <a:ext cx="16276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D5E4F6"/>
                </a:solidFill>
                <a:latin typeface="Calibri"/>
              </a:rPr>
              <a:t>antecedência do lembrete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680960" y="4937760"/>
            <a:ext cx="1901952" cy="1371600"/>
          </a:xfrm>
          <a:prstGeom prst="roundRect">
            <a:avLst>
              <a:gd name="adj" fmla="val 4666"/>
            </a:avLst>
          </a:prstGeom>
          <a:solidFill>
            <a:srgbClr val="00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18120" y="5084064"/>
            <a:ext cx="16276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API 24+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18120" y="5669280"/>
            <a:ext cx="16276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D5E4F6"/>
                </a:solidFill>
                <a:latin typeface="Calibri"/>
              </a:rPr>
              <a:t>Android 7.0 ou superior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710928" y="4937760"/>
            <a:ext cx="1901952" cy="1371600"/>
          </a:xfrm>
          <a:prstGeom prst="roundRect">
            <a:avLst>
              <a:gd name="adj" fmla="val 4666"/>
            </a:avLst>
          </a:prstGeom>
          <a:solidFill>
            <a:srgbClr val="006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848088" y="5084064"/>
            <a:ext cx="16276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48088" y="5669280"/>
            <a:ext cx="16276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D5E4F6"/>
                </a:solidFill>
                <a:latin typeface="Calibri"/>
              </a:rPr>
              <a:t>funciona offline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1737360" cy="329184"/>
          </a:xfrm>
          <a:prstGeom prst="roundRect">
            <a:avLst>
              <a:gd name="adj" fmla="val 25000"/>
            </a:avLst>
          </a:prstGeom>
          <a:solidFill>
            <a:srgbClr val="CE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347472"/>
            <a:ext cx="162763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001D33"/>
                </a:solidFill>
                <a:latin typeface="Calibri"/>
              </a:rPr>
              <a:t>DIAGNÓSTICO PWA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347472"/>
            <a:ext cx="107899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1100" b="1">
                <a:solidFill>
                  <a:srgbClr val="51606F"/>
                </a:solidFill>
                <a:latin typeface="Calibri"/>
              </a:rPr>
              <a:t>11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6809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800" b="1">
                <a:solidFill>
                  <a:srgbClr val="001D33"/>
                </a:solidFill>
                <a:latin typeface="Calibri"/>
              </a:rPr>
              <a:t>Leitura honesta: onde estamos frente ao PWA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5331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0">
                <a:solidFill>
                  <a:srgbClr val="51606F"/>
                </a:solidFill>
                <a:latin typeface="Calibri"/>
              </a:rPr>
              <a:t>Comparativo direto com a especificação da atividade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19072"/>
            <a:ext cx="777240" cy="50292"/>
          </a:xfrm>
          <a:prstGeom prst="roundRect">
            <a:avLst>
              <a:gd name="adj" fmla="val 27272"/>
            </a:avLst>
          </a:prstGeom>
          <a:solidFill>
            <a:srgbClr val="006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51606F"/>
                </a:solidFill>
                <a:latin typeface="Calibri"/>
              </a:rPr>
              <a:t>Grupo 2  •  Agenda de Serviços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510528"/>
            <a:ext cx="3182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51606F"/>
                </a:solidFill>
                <a:latin typeface="Calibri"/>
              </a:rPr>
              <a:t>Trabalho Prático – Desenvolvimento Web / PWA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9202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>
                <a:solidFill>
                  <a:srgbClr val="51606F"/>
                </a:solidFill>
                <a:latin typeface="Calibri"/>
              </a:rPr>
              <a:t>Requisito da atividade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192024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>
                <a:solidFill>
                  <a:srgbClr val="51606F"/>
                </a:solidFill>
                <a:latin typeface="Calibri"/>
              </a:rPr>
              <a:t>Situação no projeto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12680" y="192024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200" b="1">
                <a:solidFill>
                  <a:srgbClr val="51606F"/>
                </a:solidFill>
                <a:latin typeface="Calibri"/>
              </a:rPr>
              <a:t>Veredito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304288"/>
            <a:ext cx="11183112" cy="530352"/>
          </a:xfrm>
          <a:prstGeom prst="roundRect">
            <a:avLst>
              <a:gd name="adj" fmla="val 12068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304288"/>
            <a:ext cx="49834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>
                <a:solidFill>
                  <a:srgbClr val="001D33"/>
                </a:solidFill>
                <a:latin typeface="Calibri"/>
              </a:rPr>
              <a:t>Tema do Grupo 2 (clientes, horários, status, agenda)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2304288"/>
            <a:ext cx="40690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1A1C1E"/>
                </a:solidFill>
                <a:latin typeface="Calibri"/>
              </a:rPr>
              <a:t>Funções implementadas no app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12680" y="2414016"/>
            <a:ext cx="1508760" cy="320040"/>
          </a:xfrm>
          <a:prstGeom prst="roundRect">
            <a:avLst>
              <a:gd name="adj" fmla="val 25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67544" y="2414016"/>
            <a:ext cx="139903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2E7D32"/>
                </a:solidFill>
                <a:latin typeface="Calibri"/>
              </a:rPr>
              <a:t>ATENDE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926080"/>
            <a:ext cx="11183112" cy="530352"/>
          </a:xfrm>
          <a:prstGeom prst="roundRect">
            <a:avLst>
              <a:gd name="adj" fmla="val 12068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926080"/>
            <a:ext cx="49834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>
                <a:solidFill>
                  <a:srgbClr val="001D33"/>
                </a:solidFill>
                <a:latin typeface="Calibri"/>
              </a:rPr>
              <a:t>Código versionado no GitHub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2926080"/>
            <a:ext cx="40690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1A1C1E"/>
                </a:solidFill>
                <a:latin typeface="Calibri"/>
              </a:rPr>
              <a:t>Repositório publicado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12680" y="3035808"/>
            <a:ext cx="1508760" cy="320040"/>
          </a:xfrm>
          <a:prstGeom prst="roundRect">
            <a:avLst>
              <a:gd name="adj" fmla="val 25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67544" y="3035808"/>
            <a:ext cx="139903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2E7D32"/>
                </a:solidFill>
                <a:latin typeface="Calibri"/>
              </a:rPr>
              <a:t>ATENDE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547872"/>
            <a:ext cx="11183112" cy="530352"/>
          </a:xfrm>
          <a:prstGeom prst="roundRect">
            <a:avLst>
              <a:gd name="adj" fmla="val 12068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547872"/>
            <a:ext cx="49834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>
                <a:solidFill>
                  <a:srgbClr val="001D33"/>
                </a:solidFill>
                <a:latin typeface="Calibri"/>
              </a:rPr>
              <a:t>manifest.json + Service Worker (offline web)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3547872"/>
            <a:ext cx="40690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1A1C1E"/>
                </a:solidFill>
                <a:latin typeface="Calibri"/>
              </a:rPr>
              <a:t>AndroidManifest.xml + banco Room (offline nativo)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12680" y="3657600"/>
            <a:ext cx="1508760" cy="320040"/>
          </a:xfrm>
          <a:prstGeom prst="roundRect">
            <a:avLst>
              <a:gd name="adj" fmla="val 25000"/>
            </a:avLst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67544" y="3657600"/>
            <a:ext cx="139903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62828"/>
                </a:solidFill>
                <a:latin typeface="Calibri"/>
              </a:rPr>
              <a:t>NÃO ATENDE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169664"/>
            <a:ext cx="11183112" cy="530352"/>
          </a:xfrm>
          <a:prstGeom prst="roundRect">
            <a:avLst>
              <a:gd name="adj" fmla="val 12068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169664"/>
            <a:ext cx="49834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>
                <a:solidFill>
                  <a:srgbClr val="001D33"/>
                </a:solidFill>
                <a:latin typeface="Calibri"/>
              </a:rPr>
              <a:t>Hospedagem (Vercel/Netlify/Pages) + link público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6440" y="4169664"/>
            <a:ext cx="40690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1A1C1E"/>
                </a:solidFill>
                <a:latin typeface="Calibri"/>
              </a:rPr>
              <a:t>Sem deploy — roda via Android Studio/APK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12680" y="4279392"/>
            <a:ext cx="1508760" cy="320040"/>
          </a:xfrm>
          <a:prstGeom prst="roundRect">
            <a:avLst>
              <a:gd name="adj" fmla="val 25000"/>
            </a:avLst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67544" y="4279392"/>
            <a:ext cx="139903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62828"/>
                </a:solidFill>
                <a:latin typeface="Calibri"/>
              </a:rPr>
              <a:t>NÃO ATENDE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4791456"/>
            <a:ext cx="11183112" cy="530352"/>
          </a:xfrm>
          <a:prstGeom prst="roundRect">
            <a:avLst>
              <a:gd name="adj" fmla="val 12068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791456"/>
            <a:ext cx="49834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>
                <a:solidFill>
                  <a:srgbClr val="001D33"/>
                </a:solidFill>
                <a:latin typeface="Calibri"/>
              </a:rPr>
              <a:t>LocalStorage/IndexedDB ou Firebase/Supabase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440" y="4791456"/>
            <a:ext cx="40690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1A1C1E"/>
                </a:solidFill>
                <a:latin typeface="Calibri"/>
              </a:rPr>
              <a:t>Room (SQLite) — equivalente funcional, outra tecnologia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012680" y="4901184"/>
            <a:ext cx="1508760" cy="320040"/>
          </a:xfrm>
          <a:prstGeom prst="roundRect">
            <a:avLst>
              <a:gd name="adj" fmla="val 25000"/>
            </a:avLst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67544" y="4901184"/>
            <a:ext cx="139903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62828"/>
                </a:solidFill>
                <a:latin typeface="Calibri"/>
              </a:rPr>
              <a:t>NÃO ATENDE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5413248"/>
            <a:ext cx="11183112" cy="530352"/>
          </a:xfrm>
          <a:prstGeom prst="roundRect">
            <a:avLst>
              <a:gd name="adj" fmla="val 12068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5413248"/>
            <a:ext cx="49834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>
                <a:solidFill>
                  <a:srgbClr val="001D33"/>
                </a:solidFill>
                <a:latin typeface="Calibri"/>
              </a:rPr>
              <a:t>Responsivo web + notas do Lighthouse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06440" y="5413248"/>
            <a:ext cx="40690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1A1C1E"/>
                </a:solidFill>
                <a:latin typeface="Calibri"/>
              </a:rPr>
              <a:t>App Android, sem URL para auditar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012680" y="5522976"/>
            <a:ext cx="1508760" cy="320040"/>
          </a:xfrm>
          <a:prstGeom prst="roundRect">
            <a:avLst>
              <a:gd name="adj" fmla="val 25000"/>
            </a:avLst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67544" y="5522976"/>
            <a:ext cx="139903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62828"/>
                </a:solidFill>
                <a:latin typeface="Calibri"/>
              </a:rPr>
              <a:t>NÃO ATENDE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6108192"/>
            <a:ext cx="11183112" cy="658368"/>
          </a:xfrm>
          <a:prstGeom prst="roundRect">
            <a:avLst>
              <a:gd name="adj" fmla="val 9722"/>
            </a:avLst>
          </a:prstGeom>
          <a:solidFill>
            <a:srgbClr val="00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6108192"/>
            <a:ext cx="106527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Conclusão: a solução é funcional, mas equivalência nativa não gera os artefatos cobrados — manifest, Service Worker, URL pública e Lighthouse.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1737360" cy="329184"/>
          </a:xfrm>
          <a:prstGeom prst="roundRect">
            <a:avLst>
              <a:gd name="adj" fmla="val 25000"/>
            </a:avLst>
          </a:prstGeom>
          <a:solidFill>
            <a:srgbClr val="CE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347472"/>
            <a:ext cx="162763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001D33"/>
                </a:solidFill>
                <a:latin typeface="Calibri"/>
              </a:rPr>
              <a:t>PRÓXIMOS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347472"/>
            <a:ext cx="107899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1100" b="1">
                <a:solidFill>
                  <a:srgbClr val="51606F"/>
                </a:solidFill>
                <a:latin typeface="Calibri"/>
              </a:rPr>
              <a:t>12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6809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800" b="1">
                <a:solidFill>
                  <a:srgbClr val="001D33"/>
                </a:solidFill>
                <a:latin typeface="Calibri"/>
              </a:rPr>
              <a:t>O que faríamos a seguir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5331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0">
                <a:solidFill>
                  <a:srgbClr val="51606F"/>
                </a:solidFill>
                <a:latin typeface="Calibri"/>
              </a:rPr>
              <a:t>De um app Android funcional a um PWA publicável e mensurável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19072"/>
            <a:ext cx="777240" cy="50292"/>
          </a:xfrm>
          <a:prstGeom prst="roundRect">
            <a:avLst>
              <a:gd name="adj" fmla="val 27272"/>
            </a:avLst>
          </a:prstGeom>
          <a:solidFill>
            <a:srgbClr val="006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51606F"/>
                </a:solidFill>
                <a:latin typeface="Calibri"/>
              </a:rPr>
              <a:t>Grupo 2  •  Agenda de Serviços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510528"/>
            <a:ext cx="3182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51606F"/>
                </a:solidFill>
                <a:latin typeface="Calibri"/>
              </a:rPr>
              <a:t>Trabalho Prático – Desenvolvimento Web / PWA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20240"/>
            <a:ext cx="5440680" cy="3246120"/>
          </a:xfrm>
          <a:prstGeom prst="roundRect">
            <a:avLst>
              <a:gd name="adj" fmla="val 1971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2139696"/>
            <a:ext cx="502920" cy="384048"/>
          </a:xfrm>
          <a:prstGeom prst="roundRect">
            <a:avLst>
              <a:gd name="adj" fmla="val 25000"/>
            </a:avLst>
          </a:prstGeom>
          <a:solidFill>
            <a:srgbClr val="00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3" y="2139696"/>
            <a:ext cx="3931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139696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650" b="1">
                <a:solidFill>
                  <a:srgbClr val="001D33"/>
                </a:solidFill>
                <a:latin typeface="Calibri"/>
              </a:rPr>
              <a:t>Corrigir o repositório atual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697480"/>
            <a:ext cx="489204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350" b="0">
                <a:solidFill>
                  <a:srgbClr val="1A1C1E"/>
                </a:solidFill>
                <a:latin typeface="Calibri"/>
              </a:rPr>
              <a:t>• .gitignore próprio de Android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350" b="0">
                <a:solidFill>
                  <a:srgbClr val="1A1C1E"/>
                </a:solidFill>
                <a:latin typeface="Calibri"/>
              </a:rPr>
              <a:t>• Retirar do Git: local.properties, build/, .gradle/ e .idea/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350" b="0">
                <a:solidFill>
                  <a:srgbClr val="1A1C1E"/>
                </a:solidFill>
                <a:latin typeface="Calibri"/>
              </a:rPr>
              <a:t>• Permissão de execução no gradlew e versões coerentes no README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350" b="0">
                <a:solidFill>
                  <a:srgbClr val="1A1C1E"/>
                </a:solidFill>
                <a:latin typeface="Calibri"/>
              </a:rPr>
              <a:t>• Commits pequenos por etapa e teste a partir de clone limpo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920240"/>
            <a:ext cx="5422392" cy="3246120"/>
          </a:xfrm>
          <a:prstGeom prst="roundRect">
            <a:avLst>
              <a:gd name="adj" fmla="val 1971"/>
            </a:avLst>
          </a:prstGeom>
          <a:solidFill>
            <a:srgbClr val="EBF4FD"/>
          </a:solidFill>
          <a:ln w="12700">
            <a:solidFill>
              <a:srgbClr val="CE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37960" y="2139696"/>
            <a:ext cx="502920" cy="384048"/>
          </a:xfrm>
          <a:prstGeom prst="roundRect">
            <a:avLst>
              <a:gd name="adj" fmla="val 25000"/>
            </a:avLst>
          </a:prstGeom>
          <a:solidFill>
            <a:srgbClr val="006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92824" y="2139696"/>
            <a:ext cx="3931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139696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650" b="1">
                <a:solidFill>
                  <a:srgbClr val="001D33"/>
                </a:solidFill>
                <a:latin typeface="Calibri"/>
              </a:rPr>
              <a:t>Portar a solução para PWA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697480"/>
            <a:ext cx="489204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350" b="0">
                <a:solidFill>
                  <a:srgbClr val="1A1C1E"/>
                </a:solidFill>
                <a:latin typeface="Calibri"/>
              </a:rPr>
              <a:t>• Recriar as telas em web responsiva (mobile-first)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350" b="0">
                <a:solidFill>
                  <a:srgbClr val="1A1C1E"/>
                </a:solidFill>
                <a:latin typeface="Calibri"/>
              </a:rPr>
              <a:t>• IndexedDB com o mesmo modelo e a mesma regra de conflito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350" b="0">
                <a:solidFill>
                  <a:srgbClr val="1A1C1E"/>
                </a:solidFill>
                <a:latin typeface="Calibri"/>
              </a:rPr>
              <a:t>• manifest.json (ícones e atalhos) + Service Worker (cache offline e notificações)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350" b="0">
                <a:solidFill>
                  <a:srgbClr val="1A1C1E"/>
                </a:solidFill>
                <a:latin typeface="Calibri"/>
              </a:rPr>
              <a:t>• Deploy gratuito (GitHub Pages/Vercel) e metas do Lighthouse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440680"/>
            <a:ext cx="2633472" cy="502920"/>
          </a:xfrm>
          <a:prstGeom prst="roundRect">
            <a:avLst>
              <a:gd name="adj" fmla="val 25000"/>
            </a:avLst>
          </a:prstGeom>
          <a:solidFill>
            <a:srgbClr val="00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" y="5440680"/>
            <a:ext cx="252374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1  Higiene do repo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36391" y="5440680"/>
            <a:ext cx="23774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400" b="1">
                <a:solidFill>
                  <a:srgbClr val="51606F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64991" y="5440680"/>
            <a:ext cx="2633472" cy="502920"/>
          </a:xfrm>
          <a:prstGeom prst="roundRect">
            <a:avLst>
              <a:gd name="adj" fmla="val 25000"/>
            </a:avLst>
          </a:prstGeom>
          <a:solidFill>
            <a:srgbClr val="006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19856" y="5440680"/>
            <a:ext cx="252374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2  MVP web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98464" y="5440680"/>
            <a:ext cx="23774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400" b="1">
                <a:solidFill>
                  <a:srgbClr val="51606F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27064" y="5440680"/>
            <a:ext cx="2633472" cy="502920"/>
          </a:xfrm>
          <a:prstGeom prst="roundRect">
            <a:avLst>
              <a:gd name="adj" fmla="val 25000"/>
            </a:avLst>
          </a:prstGeom>
          <a:solidFill>
            <a:srgbClr val="00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81927" y="5440680"/>
            <a:ext cx="252374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3  Camada PWA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0536" y="5440680"/>
            <a:ext cx="23774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400" b="1">
                <a:solidFill>
                  <a:srgbClr val="51606F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89136" y="5440680"/>
            <a:ext cx="2633472" cy="502920"/>
          </a:xfrm>
          <a:prstGeom prst="roundRect">
            <a:avLst>
              <a:gd name="adj" fmla="val 25000"/>
            </a:avLst>
          </a:prstGeom>
          <a:solidFill>
            <a:srgbClr val="006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0" y="5440680"/>
            <a:ext cx="252374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4  Deploy + Lighthouse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1417320" cy="329184"/>
          </a:xfrm>
          <a:prstGeom prst="roundRect">
            <a:avLst>
              <a:gd name="adj" fmla="val 25000"/>
            </a:avLst>
          </a:prstGeom>
          <a:solidFill>
            <a:srgbClr val="CE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347472"/>
            <a:ext cx="130759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001D33"/>
                </a:solidFill>
                <a:latin typeface="Calibri"/>
              </a:rPr>
              <a:t>LIÇÕES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347472"/>
            <a:ext cx="107899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1100" b="1">
                <a:solidFill>
                  <a:srgbClr val="51606F"/>
                </a:solidFill>
                <a:latin typeface="Calibri"/>
              </a:rPr>
              <a:t>13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6809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800" b="1">
                <a:solidFill>
                  <a:srgbClr val="001D33"/>
                </a:solidFill>
                <a:latin typeface="Calibri"/>
              </a:rPr>
              <a:t>O que levamos desta atividade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5331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0">
                <a:solidFill>
                  <a:srgbClr val="51606F"/>
                </a:solidFill>
                <a:latin typeface="Calibri"/>
              </a:rPr>
              <a:t>Aprendizados técnicos e de processo da equipe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19072"/>
            <a:ext cx="777240" cy="50292"/>
          </a:xfrm>
          <a:prstGeom prst="roundRect">
            <a:avLst>
              <a:gd name="adj" fmla="val 27272"/>
            </a:avLst>
          </a:prstGeom>
          <a:solidFill>
            <a:srgbClr val="006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51606F"/>
                </a:solidFill>
                <a:latin typeface="Calibri"/>
              </a:rPr>
              <a:t>Grupo 2  •  Agenda de Serviços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510528"/>
            <a:ext cx="3182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51606F"/>
                </a:solidFill>
                <a:latin typeface="Calibri"/>
              </a:rPr>
              <a:t>Trabalho Prático – Desenvolvimento Web / PWA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20240"/>
            <a:ext cx="5440680" cy="1426464"/>
          </a:xfrm>
          <a:prstGeom prst="roundRect">
            <a:avLst>
              <a:gd name="adj" fmla="val 4487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0664" y="2157984"/>
            <a:ext cx="457200" cy="457200"/>
          </a:xfrm>
          <a:prstGeom prst="ellipse">
            <a:avLst/>
          </a:prstGeom>
          <a:solidFill>
            <a:srgbClr val="006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" y="2167128"/>
            <a:ext cx="4572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2103120"/>
            <a:ext cx="4389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550" b="1">
                <a:solidFill>
                  <a:srgbClr val="001D33"/>
                </a:solidFill>
                <a:latin typeface="Calibri"/>
              </a:rPr>
              <a:t>Requisito antes da tecnologia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505456"/>
            <a:ext cx="43891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00" b="0">
                <a:solidFill>
                  <a:srgbClr val="51606F"/>
                </a:solidFill>
                <a:latin typeface="Calibri"/>
              </a:rPr>
              <a:t>A especificação define o formato (PWA). Escolher a ferramenta antes de relê-la gerou o nosso maior desvio.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920240"/>
            <a:ext cx="5440680" cy="1426464"/>
          </a:xfrm>
          <a:prstGeom prst="roundRect">
            <a:avLst>
              <a:gd name="adj" fmla="val 4487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9944" y="2157984"/>
            <a:ext cx="457200" cy="457200"/>
          </a:xfrm>
          <a:prstGeom prst="ellipse">
            <a:avLst/>
          </a:prstGeom>
          <a:solidFill>
            <a:srgbClr val="685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2167128"/>
            <a:ext cx="4572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3448" y="2103120"/>
            <a:ext cx="4389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550" b="1">
                <a:solidFill>
                  <a:srgbClr val="001D33"/>
                </a:solidFill>
                <a:latin typeface="Calibri"/>
              </a:rPr>
              <a:t>Offline é arquitetura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3448" y="2505456"/>
            <a:ext cx="43891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00" b="0">
                <a:solidFill>
                  <a:srgbClr val="51606F"/>
                </a:solidFill>
                <a:latin typeface="Calibri"/>
              </a:rPr>
              <a:t>Persistência local, estado reativo e regras no banco foram decisões de projeto — não um detalhe no fim.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493008"/>
            <a:ext cx="5440680" cy="1426464"/>
          </a:xfrm>
          <a:prstGeom prst="roundRect">
            <a:avLst>
              <a:gd name="adj" fmla="val 4487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0664" y="3730752"/>
            <a:ext cx="457200" cy="457200"/>
          </a:xfrm>
          <a:prstGeom prst="ellipse">
            <a:avLst/>
          </a:prstGeom>
          <a:solidFill>
            <a:srgbClr val="006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" y="3739896"/>
            <a:ext cx="4572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4168" y="3675888"/>
            <a:ext cx="4389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550" b="1">
                <a:solidFill>
                  <a:srgbClr val="001D33"/>
                </a:solidFill>
                <a:latin typeface="Calibri"/>
              </a:rPr>
              <a:t>Versionamento também é engenharia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4168" y="4078224"/>
            <a:ext cx="43891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00" b="0">
                <a:solidFill>
                  <a:srgbClr val="51606F"/>
                </a:solidFill>
                <a:latin typeface="Calibri"/>
              </a:rPr>
              <a:t>.gitignore correto, nada de caminho local no Git e commits pequenos valem tanto quanto código funcionando.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3493008"/>
            <a:ext cx="5440680" cy="1426464"/>
          </a:xfrm>
          <a:prstGeom prst="roundRect">
            <a:avLst>
              <a:gd name="adj" fmla="val 4487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9944" y="3730752"/>
            <a:ext cx="457200" cy="457200"/>
          </a:xfrm>
          <a:prstGeom prst="ellipse">
            <a:avLst/>
          </a:prstGeom>
          <a:solidFill>
            <a:srgbClr val="685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9944" y="3739896"/>
            <a:ext cx="4572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3675888"/>
            <a:ext cx="4389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550" b="1">
                <a:solidFill>
                  <a:srgbClr val="001D33"/>
                </a:solidFill>
                <a:latin typeface="Calibri"/>
              </a:rPr>
              <a:t>Testar como o avaliador testa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13448" y="4078224"/>
            <a:ext cx="43891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00" b="0">
                <a:solidFill>
                  <a:srgbClr val="51606F"/>
                </a:solidFill>
                <a:latin typeface="Calibri"/>
              </a:rPr>
              <a:t>Clonar em máquina limpa e abrir pelo link público revelaria cedo os problemas de ambiente e de entrega.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230368"/>
            <a:ext cx="11183112" cy="932688"/>
          </a:xfrm>
          <a:prstGeom prst="roundRect">
            <a:avLst>
              <a:gd name="adj" fmla="val 6862"/>
            </a:avLst>
          </a:prstGeom>
          <a:solidFill>
            <a:srgbClr val="00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230368"/>
            <a:ext cx="10652760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Experiência da equipe: dividir o trabalho em frentes (interface, dados, agendamento e sistema/documentação) mostrou que integração e leitura crítica do requisito importam tanto quanto programar.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-2194560"/>
            <a:ext cx="5486400" cy="5486400"/>
          </a:xfrm>
          <a:prstGeom prst="ellipse">
            <a:avLst/>
          </a:prstGeom>
          <a:solidFill>
            <a:srgbClr val="003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11680" y="4480560"/>
            <a:ext cx="4389120" cy="4389120"/>
          </a:xfrm>
          <a:prstGeom prst="ellipse">
            <a:avLst/>
          </a:prstGeom>
          <a:solidFill>
            <a:srgbClr val="004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548640"/>
            <a:ext cx="2331720" cy="384048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006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" y="548640"/>
            <a:ext cx="222199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EE5FF"/>
                </a:solidFill>
                <a:latin typeface="Calibri"/>
              </a:rPr>
              <a:t>ENCERRAMENTO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14300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5200" b="1">
                <a:solidFill>
                  <a:srgbClr val="FFFFFF"/>
                </a:solidFill>
                <a:latin typeface="Calibri"/>
              </a:rPr>
              <a:t>Obrigado!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600" b="1">
                <a:solidFill>
                  <a:srgbClr val="CEE5FF"/>
                </a:solidFill>
                <a:latin typeface="Calibri"/>
              </a:rPr>
              <a:t>Perguntas?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8036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Entregamos uma base funcional e offline de agenda de serviços.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O próximo passo é transformá-la, de fato, em um PWA publicável, instalável e mensurável.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069080"/>
            <a:ext cx="10927080" cy="1188720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22452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51606F"/>
                </a:solidFill>
                <a:latin typeface="Calibri"/>
              </a:rPr>
              <a:t>Repositório no GitHub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90288"/>
            <a:ext cx="6309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600" b="1">
                <a:solidFill>
                  <a:srgbClr val="001D33"/>
                </a:solidFill>
                <a:latin typeface="Calibri"/>
              </a:rPr>
              <a:t>github.com/LuizFelip908/Agenda-de-Servicos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4224528"/>
            <a:ext cx="1874519" cy="384048"/>
          </a:xfrm>
          <a:prstGeom prst="roundRect">
            <a:avLst>
              <a:gd name="adj" fmla="val 25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07224" y="4224528"/>
            <a:ext cx="176479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2E7D32"/>
                </a:solidFill>
                <a:latin typeface="Calibri"/>
              </a:rPr>
              <a:t>✓ Código publicado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4224528"/>
            <a:ext cx="1874519" cy="384048"/>
          </a:xfrm>
          <a:prstGeom prst="roundRect">
            <a:avLst>
              <a:gd name="adj" fmla="val 25000"/>
            </a:avLst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73184" y="4224528"/>
            <a:ext cx="176479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E65100"/>
                </a:solidFill>
                <a:latin typeface="Calibri"/>
              </a:rPr>
              <a:t>Link público: a portar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4700016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0">
                <a:solidFill>
                  <a:srgbClr val="51606F"/>
                </a:solidFill>
                <a:latin typeface="Calibri"/>
              </a:rPr>
              <a:t>Demonstração: app Android (emulador/celular)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6235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0">
                <a:solidFill>
                  <a:srgbClr val="D5E4F6"/>
                </a:solidFill>
                <a:latin typeface="Calibri"/>
              </a:rPr>
              <a:t>Grupo 2 — [Nome 1]  •  [Nome 2]  •  [Nome 3]  •  [Nome 4]     |     Agenda de Serviços — barbearia &amp; oficina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Agenda de Serviços — Grupo 2</dc:title>
  <dc:subject>Trabalho Prático – Desenvolvimento Web / PWA</dc:subject>
  <dc:creator>Grupo 2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